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0" y="0"/>
            <a:ext cx="3474720" cy="2926080"/>
          </a:xfrm>
          <a:prstGeom prst="rect">
            <a:avLst/>
          </a:prstGeom>
          <a:solidFill>
            <a:srgbClr val="00A896">
              <a:alpha val="12000"/>
            </a:srgbClr>
          </a:solidFill>
          <a:ln w="12700">
            <a:solidFill>
              <a:srgbClr val="00A896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502920"/>
            <a:ext cx="1463040" cy="5029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5029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148840" y="612648"/>
            <a:ext cx="2011680" cy="274320"/>
          </a:xfrm>
          <a:prstGeom prst="rect">
            <a:avLst/>
          </a:prstGeom>
          <a:solidFill>
            <a:srgbClr val="004F9F"/>
          </a:solidFill>
          <a:ln w="12700">
            <a:solidFill>
              <a:srgbClr val="004F9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48840" y="6126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Banner Health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417320"/>
            <a:ext cx="8686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GHS Healthcare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02920" y="2103120"/>
            <a:ext cx="8686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Center</a:t>
            </a:r>
            <a:endParaRPr lang="en-US" sz="5600" dirty="0"/>
          </a:p>
        </p:txBody>
      </p:sp>
      <p:sp>
        <p:nvSpPr>
          <p:cNvPr id="10" name="Text 8"/>
          <p:cNvSpPr/>
          <p:nvPr/>
        </p:nvSpPr>
        <p:spPr>
          <a:xfrm>
            <a:off x="502920" y="299923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AA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Clinical &amp; Revenue Cycle Intelligence</a:t>
            </a:r>
            <a:endParaRPr lang="en-US" sz="15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AA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Document Intake to HITL-Approved Action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02920" y="3931920"/>
            <a:ext cx="2468880" cy="1005840"/>
          </a:xfrm>
          <a:prstGeom prst="rect">
            <a:avLst/>
          </a:prstGeom>
          <a:solidFill>
            <a:srgbClr val="FFFFFF">
              <a:alpha val="8000"/>
            </a:srgbClr>
          </a:solidFill>
          <a:ln w="9525">
            <a:solidFill>
              <a:srgbClr val="00A8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400507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90s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502920" y="44805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Doc-to-BNCA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46120" y="3931920"/>
            <a:ext cx="2468880" cy="1005840"/>
          </a:xfrm>
          <a:prstGeom prst="rect">
            <a:avLst/>
          </a:prstGeom>
          <a:solidFill>
            <a:srgbClr val="FFFFFF">
              <a:alpha val="8000"/>
            </a:srgbClr>
          </a:solidFill>
          <a:ln w="9525">
            <a:solidFill>
              <a:srgbClr val="00A89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46120" y="400507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6-8x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3246120" y="44805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Review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989320" y="3931920"/>
            <a:ext cx="2468880" cy="1005840"/>
          </a:xfrm>
          <a:prstGeom prst="rect">
            <a:avLst/>
          </a:prstGeom>
          <a:solidFill>
            <a:srgbClr val="FFFFFF">
              <a:alpha val="8000"/>
            </a:srgbClr>
          </a:solidFill>
          <a:ln w="9525">
            <a:solidFill>
              <a:srgbClr val="00A89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89320" y="400507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5989320" y="44805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Routing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" y="6309360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Banner Health · Strategic Partnership Review · 2025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247120" y="653796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84040"/>
          </a:solidFill>
          <a:ln w="12700">
            <a:solidFill>
              <a:srgbClr val="D840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11521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Document Problem Banner Faces Every Day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20040" y="621792"/>
            <a:ext cx="11521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document types. Thousands of encounters. Manual review, delays, denials — and avoidable risk.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961120" y="137160"/>
            <a:ext cx="3017520" cy="594360"/>
          </a:xfrm>
          <a:prstGeom prst="rect">
            <a:avLst/>
          </a:prstGeom>
          <a:solidFill>
            <a:srgbClr val="FDECEA"/>
          </a:solidFill>
          <a:ln w="6350">
            <a:solidFill>
              <a:srgbClr val="D840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0" y="13716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8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$262B lost annually to claim denials (CAQH)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987552"/>
            <a:ext cx="2743200" cy="1389888"/>
          </a:xfrm>
          <a:prstGeom prst="rect">
            <a:avLst/>
          </a:prstGeom>
          <a:solidFill>
            <a:srgbClr val="FFFFFF"/>
          </a:solidFill>
          <a:ln w="9525">
            <a:solidFill>
              <a:srgbClr val="DDEAF5"/>
            </a:solidFill>
            <a:prstDash val="solid"/>
          </a:ln>
          <a:effectLst>
            <a:outerShdw sx="100000" sy="100000" kx="0" ky="0" algn="bl" rotWithShape="0" blurRad="101600" dist="25400" dir="8100000">
              <a:srgbClr val="0B1F3A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987552"/>
            <a:ext cx="54864" cy="1389888"/>
          </a:xfrm>
          <a:prstGeom prst="rect">
            <a:avLst/>
          </a:prstGeom>
          <a:solidFill>
            <a:srgbClr val="D84040"/>
          </a:solidFill>
          <a:ln w="12700">
            <a:solidFill>
              <a:srgbClr val="D840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06070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🔐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2960" y="1078992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Auths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1444752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72-hr avg delay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clinical review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fields block submission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172968" y="987552"/>
            <a:ext cx="2743200" cy="1389888"/>
          </a:xfrm>
          <a:prstGeom prst="rect">
            <a:avLst/>
          </a:prstGeom>
          <a:solidFill>
            <a:srgbClr val="FFFFFF"/>
          </a:solidFill>
          <a:ln w="9525">
            <a:solidFill>
              <a:srgbClr val="DDEAF5"/>
            </a:solidFill>
            <a:prstDash val="solid"/>
          </a:ln>
          <a:effectLst>
            <a:outerShdw sx="100000" sy="100000" kx="0" ky="0" algn="bl" rotWithShape="0" blurRad="101600" dist="25400" dir="8100000">
              <a:srgbClr val="0B1F3A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72968" y="987552"/>
            <a:ext cx="54864" cy="1389888"/>
          </a:xfrm>
          <a:prstGeom prst="rect">
            <a:avLst/>
          </a:prstGeom>
          <a:solidFill>
            <a:srgbClr val="D84040"/>
          </a:solidFill>
          <a:ln w="12700">
            <a:solidFill>
              <a:srgbClr val="D840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10128" y="106070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🏥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675888" y="1078992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Discharge Summaries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10128" y="1444752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follow-up orders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LACE score uncalculated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Readmission risk unaddressed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25896" y="987552"/>
            <a:ext cx="2743200" cy="1389888"/>
          </a:xfrm>
          <a:prstGeom prst="rect">
            <a:avLst/>
          </a:prstGeom>
          <a:solidFill>
            <a:srgbClr val="FFFFFF"/>
          </a:solidFill>
          <a:ln w="9525">
            <a:solidFill>
              <a:srgbClr val="DDEAF5"/>
            </a:solidFill>
            <a:prstDash val="solid"/>
          </a:ln>
          <a:effectLst>
            <a:outerShdw sx="100000" sy="100000" kx="0" ky="0" algn="bl" rotWithShape="0" blurRad="101600" dist="25400" dir="8100000">
              <a:srgbClr val="0B1F3A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25896" y="987552"/>
            <a:ext cx="54864" cy="1389888"/>
          </a:xfrm>
          <a:prstGeom prst="rect">
            <a:avLst/>
          </a:prstGeom>
          <a:solidFill>
            <a:srgbClr val="D84040"/>
          </a:solidFill>
          <a:ln w="12700">
            <a:solidFill>
              <a:srgbClr val="D840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63056" y="106070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❌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528816" y="1078992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Denials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163056" y="1444752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appeal success rates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Deadlines missed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Conflicting denial codes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878824" y="987552"/>
            <a:ext cx="2743200" cy="1389888"/>
          </a:xfrm>
          <a:prstGeom prst="rect">
            <a:avLst/>
          </a:prstGeom>
          <a:solidFill>
            <a:srgbClr val="FFFFFF"/>
          </a:solidFill>
          <a:ln w="9525">
            <a:solidFill>
              <a:srgbClr val="DDEAF5"/>
            </a:solidFill>
            <a:prstDash val="solid"/>
          </a:ln>
          <a:effectLst>
            <a:outerShdw sx="100000" sy="100000" kx="0" ky="0" algn="bl" rotWithShape="0" blurRad="101600" dist="25400" dir="8100000">
              <a:srgbClr val="0B1F3A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878824" y="987552"/>
            <a:ext cx="54864" cy="1389888"/>
          </a:xfrm>
          <a:prstGeom prst="rect">
            <a:avLst/>
          </a:prstGeom>
          <a:solidFill>
            <a:srgbClr val="D84040"/>
          </a:solidFill>
          <a:ln w="12700">
            <a:solidFill>
              <a:srgbClr val="D8404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015984" y="106070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↗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381744" y="1078992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 Orders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015984" y="1444752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 clinical context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not obtained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 rejection delays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0040" y="2487168"/>
            <a:ext cx="2743200" cy="1389888"/>
          </a:xfrm>
          <a:prstGeom prst="rect">
            <a:avLst/>
          </a:prstGeom>
          <a:solidFill>
            <a:srgbClr val="FFFFFF"/>
          </a:solidFill>
          <a:ln w="9525">
            <a:solidFill>
              <a:srgbClr val="DDEAF5"/>
            </a:solidFill>
            <a:prstDash val="solid"/>
          </a:ln>
          <a:effectLst>
            <a:outerShdw sx="100000" sy="100000" kx="0" ky="0" algn="bl" rotWithShape="0" blurRad="101600" dist="25400" dir="8100000">
              <a:srgbClr val="0B1F3A">
                <a:alpha val="7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0040" y="2487168"/>
            <a:ext cx="54864" cy="1389888"/>
          </a:xfrm>
          <a:prstGeom prst="rect">
            <a:avLst/>
          </a:prstGeom>
          <a:solidFill>
            <a:srgbClr val="D84040"/>
          </a:solidFill>
          <a:ln w="12700">
            <a:solidFill>
              <a:srgbClr val="D840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256032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💊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822960" y="2578608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 Reconciliation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57200" y="2944368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Dose discrepancies undetected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meds across transitions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Adverse event risk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172968" y="2487168"/>
            <a:ext cx="2743200" cy="1389888"/>
          </a:xfrm>
          <a:prstGeom prst="rect">
            <a:avLst/>
          </a:prstGeom>
          <a:solidFill>
            <a:srgbClr val="FFFFFF"/>
          </a:solidFill>
          <a:ln w="9525">
            <a:solidFill>
              <a:srgbClr val="DDEAF5"/>
            </a:solidFill>
            <a:prstDash val="solid"/>
          </a:ln>
          <a:effectLst>
            <a:outerShdw sx="100000" sy="100000" kx="0" ky="0" algn="bl" rotWithShape="0" blurRad="101600" dist="25400" dir="8100000">
              <a:srgbClr val="0B1F3A">
                <a:alpha val="7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172968" y="2487168"/>
            <a:ext cx="54864" cy="1389888"/>
          </a:xfrm>
          <a:prstGeom prst="rect">
            <a:avLst/>
          </a:prstGeom>
          <a:solidFill>
            <a:srgbClr val="D84040"/>
          </a:solidFill>
          <a:ln w="12700">
            <a:solidFill>
              <a:srgbClr val="D8404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10128" y="256032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🔔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3675888" y="2578608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ADT Notifications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310128" y="2944368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Payer not notified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CMS compliance failures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coordination gaps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025896" y="2487168"/>
            <a:ext cx="2743200" cy="1389888"/>
          </a:xfrm>
          <a:prstGeom prst="rect">
            <a:avLst/>
          </a:prstGeom>
          <a:solidFill>
            <a:srgbClr val="FFFFFF"/>
          </a:solidFill>
          <a:ln w="9525">
            <a:solidFill>
              <a:srgbClr val="DDEAF5"/>
            </a:solidFill>
            <a:prstDash val="solid"/>
          </a:ln>
          <a:effectLst>
            <a:outerShdw sx="100000" sy="100000" kx="0" ky="0" algn="bl" rotWithShape="0" blurRad="101600" dist="25400" dir="8100000">
              <a:srgbClr val="0B1F3A">
                <a:alpha val="7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025896" y="2487168"/>
            <a:ext cx="54864" cy="1389888"/>
          </a:xfrm>
          <a:prstGeom prst="rect">
            <a:avLst/>
          </a:prstGeom>
          <a:solidFill>
            <a:srgbClr val="D84040"/>
          </a:solidFill>
          <a:ln w="12700">
            <a:solidFill>
              <a:srgbClr val="D8404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63056" y="256032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✍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6528816" y="2578608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Forms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163056" y="2944368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signatures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undocumented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Interpreter not secured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8878824" y="2487168"/>
            <a:ext cx="2743200" cy="1389888"/>
          </a:xfrm>
          <a:prstGeom prst="rect">
            <a:avLst/>
          </a:prstGeom>
          <a:solidFill>
            <a:srgbClr val="FFFFFF"/>
          </a:solidFill>
          <a:ln w="9525">
            <a:solidFill>
              <a:srgbClr val="DDEAF5"/>
            </a:solidFill>
            <a:prstDash val="solid"/>
          </a:ln>
          <a:effectLst>
            <a:outerShdw sx="100000" sy="100000" kx="0" ky="0" algn="bl" rotWithShape="0" blurRad="101600" dist="25400" dir="8100000">
              <a:srgbClr val="0B1F3A">
                <a:alpha val="7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8878824" y="2487168"/>
            <a:ext cx="54864" cy="1389888"/>
          </a:xfrm>
          <a:prstGeom prst="rect">
            <a:avLst/>
          </a:prstGeom>
          <a:solidFill>
            <a:srgbClr val="D84040"/>
          </a:solidFill>
          <a:ln w="12700">
            <a:solidFill>
              <a:srgbClr val="D8404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015984" y="256032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📝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9381744" y="2578608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Notes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9015984" y="2944368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Undercoding / overbilling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HPI elements missing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&amp; recoupment risk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320040" y="6355080"/>
            <a:ext cx="11521440" cy="34747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20040" y="6355080"/>
            <a:ext cx="11521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GHS Healthcare Command processes all 8 document types simultaneously — with AI nodes that catch what humans miss.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11247120" y="653796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11521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GHS Healthcare Command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0040" y="694944"/>
            <a:ext cx="1152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operating system for clinical and revenue cycle documents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3749040" cy="4937760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97280"/>
            <a:ext cx="3749040" cy="640080"/>
          </a:xfrm>
          <a:prstGeom prst="rect">
            <a:avLst/>
          </a:prstGeom>
          <a:solidFill>
            <a:srgbClr val="4A6FA5">
              <a:alpha val="85000"/>
            </a:srgbClr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1133856"/>
            <a:ext cx="35295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📂  Input Layer — Document Library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29768" y="1481328"/>
            <a:ext cx="35295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E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document type, any version, any condition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29768" y="1874520"/>
            <a:ext cx="3529584" cy="402336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9768" y="1874520"/>
            <a:ext cx="45720" cy="402336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9496" y="1874520"/>
            <a:ext cx="34015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Authorizations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29768" y="2368296"/>
            <a:ext cx="3529584" cy="402336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9768" y="2368296"/>
            <a:ext cx="45720" cy="402336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9496" y="2368296"/>
            <a:ext cx="34015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Discharge Summaries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29768" y="2862072"/>
            <a:ext cx="3529584" cy="402336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29768" y="2862072"/>
            <a:ext cx="45720" cy="402336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9496" y="2862072"/>
            <a:ext cx="34015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Denials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29768" y="3355848"/>
            <a:ext cx="3529584" cy="402336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29768" y="3355848"/>
            <a:ext cx="45720" cy="402336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9496" y="3355848"/>
            <a:ext cx="34015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 Orders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29768" y="3849624"/>
            <a:ext cx="3529584" cy="402336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29768" y="3849624"/>
            <a:ext cx="45720" cy="402336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9496" y="3849624"/>
            <a:ext cx="34015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 Reconciliation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29768" y="4343400"/>
            <a:ext cx="3529584" cy="402336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29768" y="4343400"/>
            <a:ext cx="45720" cy="402336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9496" y="4343400"/>
            <a:ext cx="34015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ADT Notifications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29768" y="4837176"/>
            <a:ext cx="3529584" cy="402336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29768" y="4837176"/>
            <a:ext cx="45720" cy="402336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9496" y="4837176"/>
            <a:ext cx="34015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Forms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29768" y="5330952"/>
            <a:ext cx="3529584" cy="402336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29768" y="5330952"/>
            <a:ext cx="45720" cy="402336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9496" y="5330952"/>
            <a:ext cx="34015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Notes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087368" y="320040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A896"/>
                </a:solidFill>
              </a:rPr>
              <a:t>▶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4297680" y="1097280"/>
            <a:ext cx="3749040" cy="4937760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297680" y="1097280"/>
            <a:ext cx="3749040" cy="640080"/>
          </a:xfrm>
          <a:prstGeom prst="rect">
            <a:avLst/>
          </a:prstGeom>
          <a:solidFill>
            <a:srgbClr val="00A896">
              <a:alpha val="85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407408" y="1133856"/>
            <a:ext cx="35295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Intelligence Layer — HC-Nodes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407408" y="1481328"/>
            <a:ext cx="35295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E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specialized AI nodes analyze every document in parallel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407408" y="1874520"/>
            <a:ext cx="3529584" cy="402336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407408" y="1874520"/>
            <a:ext cx="45720" cy="40233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17136" y="1874520"/>
            <a:ext cx="34015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Node — CPT/ICD accuracy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407408" y="2368296"/>
            <a:ext cx="3529584" cy="402336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407408" y="2368296"/>
            <a:ext cx="45720" cy="40233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17136" y="2368296"/>
            <a:ext cx="34015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Node — regulatory gaps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407408" y="2862072"/>
            <a:ext cx="3529584" cy="402336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407408" y="2862072"/>
            <a:ext cx="45720" cy="40233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17136" y="2862072"/>
            <a:ext cx="34015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Node — care quality flags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4407408" y="3355848"/>
            <a:ext cx="3529584" cy="402336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407408" y="3355848"/>
            <a:ext cx="45720" cy="40233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517136" y="3355848"/>
            <a:ext cx="34015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Node — liability &amp; revenue risk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8065008" y="320040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A896"/>
                </a:solidFill>
              </a:rPr>
              <a:t>▶</a:t>
            </a:r>
            <a:endParaRPr lang="en-US" sz="1400" dirty="0"/>
          </a:p>
        </p:txBody>
      </p:sp>
      <p:sp>
        <p:nvSpPr>
          <p:cNvPr id="51" name="Shape 49"/>
          <p:cNvSpPr/>
          <p:nvPr/>
        </p:nvSpPr>
        <p:spPr>
          <a:xfrm>
            <a:off x="8275320" y="1097280"/>
            <a:ext cx="3749040" cy="4937760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275320" y="1097280"/>
            <a:ext cx="3749040" cy="640080"/>
          </a:xfrm>
          <a:prstGeom prst="rect">
            <a:avLst/>
          </a:prstGeom>
          <a:solidFill>
            <a:srgbClr val="02C39A">
              <a:alpha val="85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385048" y="1133856"/>
            <a:ext cx="35295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Action Layer — BNCA Pipeline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8385048" y="1481328"/>
            <a:ext cx="35295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E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HC-Strategist → Main Strategist → HITL Manager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8385048" y="1874520"/>
            <a:ext cx="3529584" cy="402336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385048" y="1874520"/>
            <a:ext cx="45720" cy="40233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494776" y="1874520"/>
            <a:ext cx="34015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HC-Strategist synthesizes node findings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8385048" y="2368296"/>
            <a:ext cx="3529584" cy="402336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385048" y="2368296"/>
            <a:ext cx="45720" cy="40233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494776" y="2368296"/>
            <a:ext cx="34015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Strategist prioritizes &amp; escalates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8385048" y="2862072"/>
            <a:ext cx="3529584" cy="402336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8385048" y="2862072"/>
            <a:ext cx="45720" cy="40233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494776" y="2862072"/>
            <a:ext cx="34015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 Manager reviews &amp; approves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8385048" y="3355848"/>
            <a:ext cx="3529584" cy="402336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385048" y="3355848"/>
            <a:ext cx="45720" cy="40233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494776" y="3355848"/>
            <a:ext cx="34015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on every action</a:t>
            </a:r>
            <a:endParaRPr lang="en-US" sz="1050" dirty="0"/>
          </a:p>
        </p:txBody>
      </p:sp>
      <p:sp>
        <p:nvSpPr>
          <p:cNvPr id="67" name="Text 65"/>
          <p:cNvSpPr/>
          <p:nvPr/>
        </p:nvSpPr>
        <p:spPr>
          <a:xfrm>
            <a:off x="320040" y="6263640"/>
            <a:ext cx="11521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document enters. Every document exits with a clear, prioritized, human-reviewed action.</a:t>
            </a:r>
            <a:endParaRPr lang="en-US" sz="1200" dirty="0"/>
          </a:p>
        </p:txBody>
      </p:sp>
      <p:sp>
        <p:nvSpPr>
          <p:cNvPr id="68" name="Text 66"/>
          <p:cNvSpPr/>
          <p:nvPr/>
        </p:nvSpPr>
        <p:spPr>
          <a:xfrm>
            <a:off x="11247120" y="653796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11521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GHS Healthcare Command Pipeline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20040" y="621792"/>
            <a:ext cx="11521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document upload to HITL-approved action — every step tracked, every decision logged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47472" y="1143000"/>
            <a:ext cx="2057400" cy="2286000"/>
          </a:xfrm>
          <a:prstGeom prst="rect">
            <a:avLst/>
          </a:prstGeom>
          <a:solidFill>
            <a:srgbClr val="4A6FA5">
              <a:alpha val="90000"/>
            </a:srgbClr>
          </a:solidFill>
          <a:ln w="12700">
            <a:solidFill>
              <a:srgbClr val="4A6FA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56132" y="1307592"/>
            <a:ext cx="640080" cy="640080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6132" y="130759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📄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38912" y="2029968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38912" y="2651760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&amp; parse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format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441448" y="2176272"/>
            <a:ext cx="320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A896"/>
                </a:solidFill>
              </a:rPr>
              <a:t>▶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112264" y="996696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12264" y="99669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578608" y="1143000"/>
            <a:ext cx="2057400" cy="2286000"/>
          </a:xfrm>
          <a:prstGeom prst="rect">
            <a:avLst/>
          </a:prstGeom>
          <a:solidFill>
            <a:srgbClr val="00A896">
              <a:alpha val="90000"/>
            </a:srgbClr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87268" y="1307592"/>
            <a:ext cx="640080" cy="640080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87268" y="130759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🔬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2670048" y="2029968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HC-Nodes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 Parallel)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670048" y="2651760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· Comply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· Risk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672584" y="2176272"/>
            <a:ext cx="320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A896"/>
                </a:solidFill>
              </a:rPr>
              <a:t>▶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343400" y="996696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43400" y="99669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09744" y="1143000"/>
            <a:ext cx="2057400" cy="2286000"/>
          </a:xfrm>
          <a:prstGeom prst="rect">
            <a:avLst/>
          </a:prstGeom>
          <a:solidFill>
            <a:srgbClr val="02C39A">
              <a:alpha val="90000"/>
            </a:srgbClr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518404" y="1307592"/>
            <a:ext cx="640080" cy="640080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18404" y="130759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🧠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4901184" y="2029968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HC-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Strategist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901184" y="2651760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Synthesizes node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→ BNCA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903720" y="2176272"/>
            <a:ext cx="320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A896"/>
                </a:solidFill>
              </a:rPr>
              <a:t>▶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574536" y="996696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74536" y="99669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040880" y="1143000"/>
            <a:ext cx="2057400" cy="2286000"/>
          </a:xfrm>
          <a:prstGeom prst="rect">
            <a:avLst/>
          </a:prstGeom>
          <a:solidFill>
            <a:srgbClr val="2C4A6E">
              <a:alpha val="90000"/>
            </a:srgbClr>
          </a:solidFill>
          <a:ln w="12700">
            <a:solidFill>
              <a:srgbClr val="2C4A6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749540" y="1307592"/>
            <a:ext cx="640080" cy="640080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49540" y="130759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7132320" y="2029968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Strategist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132320" y="2651760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· Escalation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check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9134856" y="2176272"/>
            <a:ext cx="320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A896"/>
                </a:solidFill>
              </a:rPr>
              <a:t>▶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8805672" y="996696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805672" y="99669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9272016" y="1143000"/>
            <a:ext cx="2057400" cy="2286000"/>
          </a:xfrm>
          <a:prstGeom prst="rect">
            <a:avLst/>
          </a:prstGeom>
          <a:solidFill>
            <a:srgbClr val="004F9F">
              <a:alpha val="90000"/>
            </a:srgbClr>
          </a:solidFill>
          <a:ln w="12700">
            <a:solidFill>
              <a:srgbClr val="004F9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9980676" y="1307592"/>
            <a:ext cx="640080" cy="640080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980676" y="130759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👤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9363456" y="2029968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9363456" y="2651760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approval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11036808" y="996696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4F9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1036808" y="99669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4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347472" y="3675888"/>
            <a:ext cx="11475720" cy="1417320"/>
          </a:xfrm>
          <a:prstGeom prst="rect">
            <a:avLst/>
          </a:prstGeom>
          <a:solidFill>
            <a:srgbClr val="D1FAE5"/>
          </a:solidFill>
          <a:ln w="9525">
            <a:solidFill>
              <a:srgbClr val="059669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47472" y="3675888"/>
            <a:ext cx="54864" cy="1417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02920" y="374904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BNCA OUTPUT — Best Next Course of Action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502920" y="4114800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Coding Node → ICD/CPT verified, bundling checked, modifier flagged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02920" y="4416552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Compliance Node → regulatory gaps identified, deadlines captured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02920" y="4718304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Clinical Node → care quality flags, medical necessity gaps surfaced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263640" y="4114800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Risk Node → liability, revenue risk, and escalation path determined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263640" y="4416552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HC-Strategist → synthesizes all 4 findings into single prioritized BNCA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263640" y="4718304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Main Strategist → assigns urgency tier, routes to correct team or HITL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347472" y="5230368"/>
            <a:ext cx="11475720" cy="475488"/>
          </a:xfrm>
          <a:prstGeom prst="rect">
            <a:avLst/>
          </a:prstGeom>
          <a:solidFill>
            <a:srgbClr val="E6EEF8"/>
          </a:solidFill>
          <a:ln w="9525">
            <a:solidFill>
              <a:srgbClr val="004F9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02920" y="5230368"/>
            <a:ext cx="11155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4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HITL Manager — Reviews BNCA, approves or modifies action, with full audit trail. Every decision is accountable.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347472" y="5833872"/>
            <a:ext cx="11475720" cy="38404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47472" y="5833872"/>
            <a:ext cx="11475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pipeline time: under 90 seconds · Zero manual routing · 100% audit trail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11247120" y="653796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11521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HC-Nodes — 4 Parallel AI Analyzers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0040" y="694944"/>
            <a:ext cx="1152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document is processed simultaneously across all four nodes.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47472" y="1051560"/>
            <a:ext cx="2788920" cy="4434840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1051560"/>
            <a:ext cx="2788920" cy="713232"/>
          </a:xfrm>
          <a:prstGeom prst="rect">
            <a:avLst/>
          </a:prstGeom>
          <a:solidFill>
            <a:srgbClr val="4A6FA5">
              <a:alpha val="95000"/>
            </a:srgbClr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124712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🔢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77824" y="1088136"/>
            <a:ext cx="21671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Node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77824" y="1417320"/>
            <a:ext cx="21671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4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Verifies CPT and ICD-10 accuracy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84632" y="189280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catches: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4632" y="2148840"/>
            <a:ext cx="2514600" cy="438912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4632" y="2148840"/>
            <a:ext cx="45720" cy="438912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148840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or missing procedure codes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4632" y="2660904"/>
            <a:ext cx="2514600" cy="438912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4632" y="2660904"/>
            <a:ext cx="45720" cy="438912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660904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Diagnosis-procedure conflicts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4632" y="3172968"/>
            <a:ext cx="2514600" cy="438912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4632" y="3172968"/>
            <a:ext cx="45720" cy="438912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3172968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Modifier errors and bundling issues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4632" y="3685032"/>
            <a:ext cx="2514600" cy="438912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4632" y="3685032"/>
            <a:ext cx="45720" cy="438912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3685032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DRG accuracy for inpatient billing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38912" y="4389120"/>
            <a:ext cx="2606040" cy="987552"/>
          </a:xfrm>
          <a:prstGeom prst="rect">
            <a:avLst/>
          </a:prstGeom>
          <a:solidFill>
            <a:srgbClr val="4A6FA5">
              <a:alpha val="18000"/>
            </a:srgbClr>
          </a:solidFill>
          <a:ln w="6350">
            <a:solidFill>
              <a:srgbClr val="4A6FA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2064" y="445312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12064" y="4654296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Auth: CPT 27447 + M17.11 verified. No modifier needed. Clean.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27832" y="1051560"/>
            <a:ext cx="2788920" cy="4434840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27832" y="1051560"/>
            <a:ext cx="2788920" cy="713232"/>
          </a:xfrm>
          <a:prstGeom prst="rect">
            <a:avLst/>
          </a:prstGeom>
          <a:solidFill>
            <a:srgbClr val="00A896">
              <a:alpha val="95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19272" y="1124712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📋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3758184" y="1088136"/>
            <a:ext cx="21671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Node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758184" y="1417320"/>
            <a:ext cx="21671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4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regulatory and payer requirements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364992" y="189280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catches: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364992" y="2148840"/>
            <a:ext cx="2514600" cy="438912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364992" y="2148840"/>
            <a:ext cx="45720" cy="43891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74720" y="2148840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required fields by payer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364992" y="2660904"/>
            <a:ext cx="2514600" cy="438912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364992" y="2660904"/>
            <a:ext cx="45720" cy="43891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74720" y="2660904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policy status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364992" y="3172968"/>
            <a:ext cx="2514600" cy="438912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364992" y="3172968"/>
            <a:ext cx="45720" cy="43891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474720" y="3172968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documentation standards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364992" y="3685032"/>
            <a:ext cx="2514600" cy="438912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364992" y="3685032"/>
            <a:ext cx="45720" cy="43891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474720" y="3685032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CMS core measure compliance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319272" y="4389120"/>
            <a:ext cx="2606040" cy="987552"/>
          </a:xfrm>
          <a:prstGeom prst="rect">
            <a:avLst/>
          </a:prstGeom>
          <a:solidFill>
            <a:srgbClr val="00A896">
              <a:alpha val="18000"/>
            </a:srgbClr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392424" y="445312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3392424" y="4654296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Discharge: LACE score missing. CMS readmission measure at risk. Flag.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108192" y="1051560"/>
            <a:ext cx="2788920" cy="4434840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108192" y="1051560"/>
            <a:ext cx="2788920" cy="713232"/>
          </a:xfrm>
          <a:prstGeom prst="rect">
            <a:avLst/>
          </a:prstGeom>
          <a:solidFill>
            <a:srgbClr val="02C39A">
              <a:alpha val="95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199632" y="1124712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🩺</a:t>
            </a:r>
            <a:endParaRPr lang="en-US" sz="2000" dirty="0"/>
          </a:p>
        </p:txBody>
      </p:sp>
      <p:sp>
        <p:nvSpPr>
          <p:cNvPr id="50" name="Text 48"/>
          <p:cNvSpPr/>
          <p:nvPr/>
        </p:nvSpPr>
        <p:spPr>
          <a:xfrm>
            <a:off x="6638544" y="1088136"/>
            <a:ext cx="21671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Node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6638544" y="1417320"/>
            <a:ext cx="21671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4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Evaluates care quality and clinical sufficiency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6245352" y="189280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catches: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245352" y="2148840"/>
            <a:ext cx="2514600" cy="438912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245352" y="2148840"/>
            <a:ext cx="45720" cy="43891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355080" y="2148840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necessity gaps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6245352" y="2660904"/>
            <a:ext cx="2514600" cy="438912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245352" y="2660904"/>
            <a:ext cx="45720" cy="43891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355080" y="2660904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Incomplete HPI elements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6245352" y="3172968"/>
            <a:ext cx="2514600" cy="438912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245352" y="3172968"/>
            <a:ext cx="45720" cy="43891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355080" y="3172968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safety netting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6245352" y="3685032"/>
            <a:ext cx="2514600" cy="438912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245352" y="3685032"/>
            <a:ext cx="45720" cy="43891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355080" y="3685032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 patient flags (LACE, social determinants)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6199632" y="4389120"/>
            <a:ext cx="2606040" cy="987552"/>
          </a:xfrm>
          <a:prstGeom prst="rect">
            <a:avLst/>
          </a:prstGeom>
          <a:solidFill>
            <a:srgbClr val="02C39A">
              <a:alpha val="18000"/>
            </a:srgbClr>
          </a:solidFill>
          <a:ln w="6350">
            <a:solidFill>
              <a:srgbClr val="02C39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272784" y="445312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6272784" y="4654296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Referral: SVT with delta waves + syncope — EP subspecialty confirmed.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8988552" y="1051560"/>
            <a:ext cx="2788920" cy="4434840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8988552" y="1051560"/>
            <a:ext cx="2788920" cy="713232"/>
          </a:xfrm>
          <a:prstGeom prst="rect">
            <a:avLst/>
          </a:prstGeom>
          <a:solidFill>
            <a:srgbClr val="D97706">
              <a:alpha val="95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9079992" y="1124712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⚠</a:t>
            </a:r>
            <a:endParaRPr lang="en-US" sz="2000" dirty="0"/>
          </a:p>
        </p:txBody>
      </p:sp>
      <p:sp>
        <p:nvSpPr>
          <p:cNvPr id="71" name="Text 69"/>
          <p:cNvSpPr/>
          <p:nvPr/>
        </p:nvSpPr>
        <p:spPr>
          <a:xfrm>
            <a:off x="9518904" y="1088136"/>
            <a:ext cx="21671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Node</a:t>
            </a:r>
            <a:endParaRPr lang="en-US" sz="1400" dirty="0"/>
          </a:p>
        </p:txBody>
      </p:sp>
      <p:sp>
        <p:nvSpPr>
          <p:cNvPr id="72" name="Text 70"/>
          <p:cNvSpPr/>
          <p:nvPr/>
        </p:nvSpPr>
        <p:spPr>
          <a:xfrm>
            <a:off x="9518904" y="1417320"/>
            <a:ext cx="21671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4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Quantifies liability and revenue risk</a:t>
            </a:r>
            <a:endParaRPr lang="en-US" sz="950" dirty="0"/>
          </a:p>
        </p:txBody>
      </p:sp>
      <p:sp>
        <p:nvSpPr>
          <p:cNvPr id="73" name="Text 71"/>
          <p:cNvSpPr/>
          <p:nvPr/>
        </p:nvSpPr>
        <p:spPr>
          <a:xfrm>
            <a:off x="9125712" y="189280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catches: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9125712" y="2148840"/>
            <a:ext cx="2514600" cy="438912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9125712" y="2148840"/>
            <a:ext cx="45720" cy="43891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9235440" y="2148840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Denial probability scores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9125712" y="2660904"/>
            <a:ext cx="2514600" cy="438912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9125712" y="2660904"/>
            <a:ext cx="45720" cy="43891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9235440" y="2660904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Appeal deadline tracking</a:t>
            </a:r>
            <a:endParaRPr lang="en-US" sz="1000" dirty="0"/>
          </a:p>
        </p:txBody>
      </p:sp>
      <p:sp>
        <p:nvSpPr>
          <p:cNvPr id="80" name="Shape 78"/>
          <p:cNvSpPr/>
          <p:nvPr/>
        </p:nvSpPr>
        <p:spPr>
          <a:xfrm>
            <a:off x="9125712" y="3172968"/>
            <a:ext cx="2514600" cy="438912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9125712" y="3172968"/>
            <a:ext cx="45720" cy="43891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9235440" y="3172968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safety event risk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9125712" y="3685032"/>
            <a:ext cx="2514600" cy="438912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9125712" y="3685032"/>
            <a:ext cx="45720" cy="43891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9235440" y="3685032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and recoupment exposure</a:t>
            </a:r>
            <a:endParaRPr lang="en-US" sz="1000" dirty="0"/>
          </a:p>
        </p:txBody>
      </p:sp>
      <p:sp>
        <p:nvSpPr>
          <p:cNvPr id="86" name="Shape 84"/>
          <p:cNvSpPr/>
          <p:nvPr/>
        </p:nvSpPr>
        <p:spPr>
          <a:xfrm>
            <a:off x="9079992" y="4389120"/>
            <a:ext cx="2606040" cy="987552"/>
          </a:xfrm>
          <a:prstGeom prst="rect">
            <a:avLst/>
          </a:prstGeom>
          <a:solidFill>
            <a:srgbClr val="D97706">
              <a:alpha val="18000"/>
            </a:srgbClr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9153144" y="445312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900" dirty="0"/>
          </a:p>
        </p:txBody>
      </p:sp>
      <p:sp>
        <p:nvSpPr>
          <p:cNvPr id="88" name="Text 86"/>
          <p:cNvSpPr/>
          <p:nvPr/>
        </p:nvSpPr>
        <p:spPr>
          <a:xfrm>
            <a:off x="9153144" y="4654296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Denial: CO-97 + CO-4 dual-code = payer error likely. Appeal HIGH.</a:t>
            </a:r>
            <a:endParaRPr lang="en-US" sz="950" dirty="0"/>
          </a:p>
        </p:txBody>
      </p:sp>
      <p:sp>
        <p:nvSpPr>
          <p:cNvPr id="89" name="Text 87"/>
          <p:cNvSpPr/>
          <p:nvPr/>
        </p:nvSpPr>
        <p:spPr>
          <a:xfrm>
            <a:off x="347472" y="5669280"/>
            <a:ext cx="11475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nodes report simultaneously to the HC-Strategist — who synthesizes findings into a single BNCA.</a:t>
            </a:r>
            <a:endParaRPr lang="en-US" sz="1100" dirty="0"/>
          </a:p>
        </p:txBody>
      </p:sp>
      <p:sp>
        <p:nvSpPr>
          <p:cNvPr id="90" name="Text 88"/>
          <p:cNvSpPr/>
          <p:nvPr/>
        </p:nvSpPr>
        <p:spPr>
          <a:xfrm>
            <a:off x="11247120" y="653796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11521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HC-Strategist &amp; Main Strategist — The Decision Layer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20040" y="621792"/>
            <a:ext cx="11521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AI layers that transform node findings into prioritized, human-ready recommendations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47472" y="960120"/>
            <a:ext cx="5349240" cy="4983480"/>
          </a:xfrm>
          <a:prstGeom prst="rect">
            <a:avLst/>
          </a:prstGeom>
          <a:solidFill>
            <a:srgbClr val="E0F5F2"/>
          </a:solidFill>
          <a:ln w="9525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25400" dir="8100000">
              <a:srgbClr val="0B1F3A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960120"/>
            <a:ext cx="5349240" cy="59436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05840"/>
            <a:ext cx="5029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HC-Strategist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75488" y="1691640"/>
            <a:ext cx="292608" cy="29260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169164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1673352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all 4 node findings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8680" y="1929384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Coding, Compliance, Clinical, and Risk outputs arrive simultaneously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" y="2468880"/>
            <a:ext cx="292608" cy="29260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24688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68680" y="2450592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Resolves conflicts between nodes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68680" y="2706624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nodes disagree, HC-Strategist adjudicates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" y="3246120"/>
            <a:ext cx="292608" cy="29260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32461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68680" y="3227832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the BNCA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68680" y="3483864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Next Course of Action — single, specific, actionable recommendation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" y="4023360"/>
            <a:ext cx="292608" cy="29260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" y="40233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8680" y="4005072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Assigns confidence score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68680" y="4261104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Low/Medium/High confidence routes to different HITL escalation paths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" y="4800600"/>
            <a:ext cx="292608" cy="29260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" y="48006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68680" y="4782312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 for routing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68680" y="5038344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for billing, clinical, compliance, or HITL review queue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779008" y="3127248"/>
            <a:ext cx="3474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▶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6199632" y="960120"/>
            <a:ext cx="5376672" cy="4983480"/>
          </a:xfrm>
          <a:prstGeom prst="rect">
            <a:avLst/>
          </a:prstGeom>
          <a:solidFill>
            <a:srgbClr val="EEF2F8"/>
          </a:solidFill>
          <a:ln w="9525">
            <a:solidFill>
              <a:srgbClr val="2C4A6E"/>
            </a:solidFill>
            <a:prstDash val="solid"/>
          </a:ln>
          <a:effectLst>
            <a:outerShdw sx="100000" sy="100000" kx="0" ky="0" algn="bl" rotWithShape="0" blurRad="101600" dist="25400" dir="8100000">
              <a:srgbClr val="0B1F3A">
                <a:alpha val="7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99632" y="960120"/>
            <a:ext cx="5376672" cy="594360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55080" y="1005840"/>
            <a:ext cx="5029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Main Strategist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6327648" y="1691640"/>
            <a:ext cx="292608" cy="292608"/>
          </a:xfrm>
          <a:prstGeom prst="ellipse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27648" y="169164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720840" y="1673352"/>
            <a:ext cx="4709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BNCA from HC-Strategist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720840" y="1929384"/>
            <a:ext cx="4709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confidence score and routing tag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327648" y="2468880"/>
            <a:ext cx="292608" cy="292608"/>
          </a:xfrm>
          <a:prstGeom prst="ellipse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27648" y="24688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720840" y="2450592"/>
            <a:ext cx="4709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Cross-document pattern recognition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720840" y="2706624"/>
            <a:ext cx="4709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systemic issues across submissions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327648" y="3246120"/>
            <a:ext cx="292608" cy="292608"/>
          </a:xfrm>
          <a:prstGeom prst="ellipse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27648" y="32461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720840" y="3227832"/>
            <a:ext cx="4709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tier assignment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720840" y="3483864"/>
            <a:ext cx="4709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Urgent · P2 Revenue Critical · P3 Standard · P4 Info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327648" y="4023360"/>
            <a:ext cx="292608" cy="292608"/>
          </a:xfrm>
          <a:prstGeom prst="ellipse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327648" y="40233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720840" y="4005072"/>
            <a:ext cx="4709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path determination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6720840" y="4261104"/>
            <a:ext cx="4709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to billing, compliance, CMO, or HITL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327648" y="4800600"/>
            <a:ext cx="292608" cy="292608"/>
          </a:xfrm>
          <a:prstGeom prst="ellipse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327648" y="48006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720840" y="4782312"/>
            <a:ext cx="4709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to HITL Manager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6720840" y="5038344"/>
            <a:ext cx="4709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Delivers BNCA + findings + priority for human sign-off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347472" y="6035040"/>
            <a:ext cx="11228832" cy="5486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47472" y="6035040"/>
            <a:ext cx="112288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Strategist delivers to HITL Manager: full audit package ready for human review and approval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11247120" y="653796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F9F"/>
          </a:solidFill>
          <a:ln w="12700">
            <a:solidFill>
              <a:srgbClr val="004F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11521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 Manager — Human-in-the-Loop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0040" y="694944"/>
            <a:ext cx="1152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recommends. Humans decide. Every action is accountable.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47472" y="1078992"/>
            <a:ext cx="5394960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004F9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F3A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078992"/>
            <a:ext cx="5394960" cy="502920"/>
          </a:xfrm>
          <a:prstGeom prst="rect">
            <a:avLst/>
          </a:prstGeom>
          <a:solidFill>
            <a:srgbClr val="004F9F">
              <a:alpha val="90000"/>
            </a:srgbClr>
          </a:solidFill>
          <a:ln w="12700">
            <a:solidFill>
              <a:srgbClr val="004F9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24712"/>
            <a:ext cx="5120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HITL Manager receives: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8912" y="1691640"/>
            <a:ext cx="237744" cy="237744"/>
          </a:xfrm>
          <a:prstGeom prst="rect">
            <a:avLst/>
          </a:prstGeom>
          <a:solidFill>
            <a:srgbClr val="004F9F"/>
          </a:solidFill>
          <a:ln w="12700">
            <a:solidFill>
              <a:srgbClr val="004F9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169164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49808" y="1664208"/>
            <a:ext cx="48280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document (any version, any condition)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8912" y="2139696"/>
            <a:ext cx="237744" cy="237744"/>
          </a:xfrm>
          <a:prstGeom prst="rect">
            <a:avLst/>
          </a:prstGeom>
          <a:solidFill>
            <a:srgbClr val="004F9F"/>
          </a:solidFill>
          <a:ln w="12700">
            <a:solidFill>
              <a:srgbClr val="004F9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2139696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49808" y="2112264"/>
            <a:ext cx="48280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 HC-Node findings — individually labeled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8912" y="2587752"/>
            <a:ext cx="237744" cy="237744"/>
          </a:xfrm>
          <a:prstGeom prst="rect">
            <a:avLst/>
          </a:prstGeom>
          <a:solidFill>
            <a:srgbClr val="004F9F"/>
          </a:solidFill>
          <a:ln w="12700">
            <a:solidFill>
              <a:srgbClr val="004F9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2587752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49808" y="2560320"/>
            <a:ext cx="48280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HC-Strategist BNCA with confidence score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8912" y="3035808"/>
            <a:ext cx="237744" cy="237744"/>
          </a:xfrm>
          <a:prstGeom prst="rect">
            <a:avLst/>
          </a:prstGeom>
          <a:solidFill>
            <a:srgbClr val="004F9F"/>
          </a:solidFill>
          <a:ln w="12700">
            <a:solidFill>
              <a:srgbClr val="004F9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" y="3035808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49808" y="3008376"/>
            <a:ext cx="48280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Strategist priority tier (P1-P4)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38912" y="3483864"/>
            <a:ext cx="237744" cy="237744"/>
          </a:xfrm>
          <a:prstGeom prst="rect">
            <a:avLst/>
          </a:prstGeom>
          <a:solidFill>
            <a:srgbClr val="004F9F"/>
          </a:solidFill>
          <a:ln w="12700">
            <a:solidFill>
              <a:srgbClr val="004F9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8912" y="3483864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49808" y="3456432"/>
            <a:ext cx="48280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action and routing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38912" y="3931920"/>
            <a:ext cx="237744" cy="237744"/>
          </a:xfrm>
          <a:prstGeom prst="rect">
            <a:avLst/>
          </a:prstGeom>
          <a:solidFill>
            <a:srgbClr val="004F9F"/>
          </a:solidFill>
          <a:ln w="12700">
            <a:solidFill>
              <a:srgbClr val="004F9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8912" y="393192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49808" y="3904488"/>
            <a:ext cx="48280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flag if patient safety or urgent revenue risk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38912" y="4379976"/>
            <a:ext cx="237744" cy="237744"/>
          </a:xfrm>
          <a:prstGeom prst="rect">
            <a:avLst/>
          </a:prstGeom>
          <a:solidFill>
            <a:srgbClr val="004F9F"/>
          </a:solidFill>
          <a:ln w="12700">
            <a:solidFill>
              <a:srgbClr val="004F9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8912" y="4379976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49808" y="4352544"/>
            <a:ext cx="48280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time-stamped audit trail from intake to review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91072" y="1078992"/>
            <a:ext cx="5394960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25400" dir="8100000">
              <a:srgbClr val="0B1F3A">
                <a:alpha val="7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291072" y="1078992"/>
            <a:ext cx="5394960" cy="502920"/>
          </a:xfrm>
          <a:prstGeom prst="rect">
            <a:avLst/>
          </a:prstGeom>
          <a:solidFill>
            <a:srgbClr val="00A896">
              <a:alpha val="90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46520" y="1124712"/>
            <a:ext cx="5120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HITL Manager can do: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382512" y="1719072"/>
            <a:ext cx="5193792" cy="438912"/>
          </a:xfrm>
          <a:prstGeom prst="rect">
            <a:avLst/>
          </a:prstGeom>
          <a:solidFill>
            <a:srgbClr val="E0F5F2"/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55664" y="1719072"/>
            <a:ext cx="1234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Approve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726680" y="1719072"/>
            <a:ext cx="37307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BNCA and trigger action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382512" y="2249424"/>
            <a:ext cx="5193792" cy="438912"/>
          </a:xfrm>
          <a:prstGeom prst="rect">
            <a:avLst/>
          </a:prstGeom>
          <a:solidFill>
            <a:srgbClr val="E0F5F2"/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55664" y="2249424"/>
            <a:ext cx="1234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 Modify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726680" y="2249424"/>
            <a:ext cx="37307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BNCA before approval — reason logged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382512" y="2779776"/>
            <a:ext cx="5193792" cy="438912"/>
          </a:xfrm>
          <a:prstGeom prst="rect">
            <a:avLst/>
          </a:prstGeom>
          <a:solidFill>
            <a:srgbClr val="E0F5F2"/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55664" y="2779776"/>
            <a:ext cx="1234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↩ Return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726680" y="2779776"/>
            <a:ext cx="37307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back to HC-Strategist with context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382512" y="3310128"/>
            <a:ext cx="5193792" cy="438912"/>
          </a:xfrm>
          <a:prstGeom prst="rect">
            <a:avLst/>
          </a:prstGeom>
          <a:solidFill>
            <a:srgbClr val="E0F5F2"/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55664" y="3310128"/>
            <a:ext cx="1234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⬆ Escalate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726680" y="3310128"/>
            <a:ext cx="37307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Elevate to CMO, compliance, or dept head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382512" y="3840480"/>
            <a:ext cx="5193792" cy="438912"/>
          </a:xfrm>
          <a:prstGeom prst="rect">
            <a:avLst/>
          </a:prstGeom>
          <a:solidFill>
            <a:srgbClr val="E0F5F2"/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55664" y="3840480"/>
            <a:ext cx="1234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Flag urgent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7726680" y="3840480"/>
            <a:ext cx="37307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Override to P1 — same-day response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382512" y="4370832"/>
            <a:ext cx="5193792" cy="438912"/>
          </a:xfrm>
          <a:prstGeom prst="rect">
            <a:avLst/>
          </a:prstGeom>
          <a:solidFill>
            <a:srgbClr val="E0F5F2"/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55664" y="4370832"/>
            <a:ext cx="1234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🗂 Archive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7726680" y="4370832"/>
            <a:ext cx="37307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resolved, saved to chart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347472" y="5349240"/>
            <a:ext cx="11338560" cy="1188720"/>
          </a:xfrm>
          <a:prstGeom prst="rect">
            <a:avLst/>
          </a:prstGeom>
          <a:solidFill>
            <a:srgbClr val="FFFFFF">
              <a:alpha val="7000"/>
            </a:srgbClr>
          </a:solidFill>
          <a:ln w="9525">
            <a:solidFill>
              <a:srgbClr val="00A89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02920" y="54864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C8E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HITL is non-negotiable: Regulatory compliance requires human sign-off · Liability stays with the institution · Edge cases handled by humans · Every GHS action is auditable and defensible.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11247120" y="653796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11521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— Document Library Walkthrough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20040" y="621792"/>
            <a:ext cx="11521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any document type · Select version · Watch pipeline · Read the BNCA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47472" y="1005840"/>
            <a:ext cx="370332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AF5"/>
            </a:solidFill>
            <a:prstDash val="solid"/>
          </a:ln>
          <a:effectLst>
            <a:outerShdw sx="100000" sy="100000" kx="0" ky="0" algn="bl" rotWithShape="0" blurRad="101600" dist="25400" dir="8100000">
              <a:srgbClr val="0B1F3A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84632" y="1115568"/>
            <a:ext cx="411480" cy="41148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111556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111556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🖥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84632" y="160020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Demo Interface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4632" y="1993392"/>
            <a:ext cx="3429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GHS Healthcare Command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loaded at tsm-shell.fly.dev/html/ghs/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61104" y="1005840"/>
            <a:ext cx="370332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AF5"/>
            </a:solidFill>
            <a:prstDash val="solid"/>
          </a:ln>
          <a:effectLst>
            <a:outerShdw sx="100000" sy="100000" kx="0" ky="0" algn="bl" rotWithShape="0" blurRad="101600" dist="25400" dir="8100000">
              <a:srgbClr val="0B1F3A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98264" y="1115568"/>
            <a:ext cx="411480" cy="41148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98264" y="111556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19472" y="111556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📂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398264" y="160020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Document Type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398264" y="1993392"/>
            <a:ext cx="3429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types as clickable cards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library panel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174736" y="1005840"/>
            <a:ext cx="370332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AF5"/>
            </a:solidFill>
            <a:prstDash val="solid"/>
          </a:ln>
          <a:effectLst>
            <a:outerShdw sx="100000" sy="100000" kx="0" ky="0" algn="bl" rotWithShape="0" blurRad="101600" dist="25400" dir="8100000">
              <a:srgbClr val="0B1F3A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311896" y="1115568"/>
            <a:ext cx="411480" cy="41148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11896" y="111556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833104" y="111556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📄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311896" y="160020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 Version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311896" y="1993392"/>
            <a:ext cx="3429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v1=Incomplete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v2=Partial/conflicting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v3=Complete/clean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47472" y="3383280"/>
            <a:ext cx="370332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AF5"/>
            </a:solidFill>
            <a:prstDash val="solid"/>
          </a:ln>
          <a:effectLst>
            <a:outerShdw sx="100000" sy="100000" kx="0" ky="0" algn="bl" rotWithShape="0" blurRad="101600" dist="25400" dir="8100000">
              <a:srgbClr val="0B1F3A">
                <a:alpha val="7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4632" y="3493008"/>
            <a:ext cx="411480" cy="41148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" y="349300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005840" y="349300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▶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484632" y="397764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Process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84632" y="4370832"/>
            <a:ext cx="3429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Activates full GHS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in real time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261104" y="3383280"/>
            <a:ext cx="370332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AF5"/>
            </a:solidFill>
            <a:prstDash val="solid"/>
          </a:ln>
          <a:effectLst>
            <a:outerShdw sx="100000" sy="100000" kx="0" ky="0" algn="bl" rotWithShape="0" blurRad="101600" dist="25400" dir="8100000">
              <a:srgbClr val="0B1F3A">
                <a:alpha val="7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398264" y="3493008"/>
            <a:ext cx="411480" cy="41148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98264" y="349300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919472" y="349300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🔬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4398264" y="397764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HC-Nodes Fire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398264" y="4370832"/>
            <a:ext cx="3429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nodes light up: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Coding·Comply·Clinical·Risk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174736" y="3383280"/>
            <a:ext cx="370332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AF5"/>
            </a:solidFill>
            <a:prstDash val="solid"/>
          </a:ln>
          <a:effectLst>
            <a:outerShdw sx="100000" sy="100000" kx="0" ky="0" algn="bl" rotWithShape="0" blurRad="101600" dist="25400" dir="8100000">
              <a:srgbClr val="0B1F3A">
                <a:alpha val="7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8311896" y="3493008"/>
            <a:ext cx="411480" cy="41148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311896" y="349300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8833104" y="349300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8311896" y="397764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the BNCA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8311896" y="4370832"/>
            <a:ext cx="3429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Next Course of Action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HITL action item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47472" y="5715000"/>
            <a:ext cx="11475720" cy="932688"/>
          </a:xfrm>
          <a:prstGeom prst="rect">
            <a:avLst/>
          </a:prstGeom>
          <a:solidFill>
            <a:srgbClr val="FEF3C7"/>
          </a:solidFill>
          <a:ln w="9525">
            <a:solidFill>
              <a:srgbClr val="D9770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2920" y="5806440"/>
            <a:ext cx="10972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C3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Demo Tip: Run the BROKEN version (v1) first — then CLEAN (v3). The contrast between HOLD and APPROVE &amp; SUBMIT lands the value instantly.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11247120" y="653796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11521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Prior Authorization — Version Comparison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594360"/>
            <a:ext cx="11521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8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Banner processes thousands of PAs monthly. 72-hr avg delay. &gt;15% first-pass denial rate.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024128"/>
            <a:ext cx="3657600" cy="3794760"/>
          </a:xfrm>
          <a:prstGeom prst="rect">
            <a:avLst/>
          </a:prstGeom>
          <a:solidFill>
            <a:srgbClr val="FDECEA"/>
          </a:solidFill>
          <a:ln w="9525">
            <a:solidFill>
              <a:srgbClr val="D84040"/>
            </a:solidFill>
            <a:prstDash val="solid"/>
          </a:ln>
          <a:effectLst>
            <a:outerShdw sx="100000" sy="100000" kx="0" ky="0" algn="bl" rotWithShape="0" blurRad="101600" dist="25400" dir="8100000">
              <a:srgbClr val="0B1F3A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24128"/>
            <a:ext cx="3657600" cy="475488"/>
          </a:xfrm>
          <a:prstGeom prst="rect">
            <a:avLst/>
          </a:prstGeom>
          <a:solidFill>
            <a:srgbClr val="D84040"/>
          </a:solidFill>
          <a:ln w="12700">
            <a:solidFill>
              <a:srgbClr val="D840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1069848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— Incomplete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609344"/>
            <a:ext cx="3383280" cy="457200"/>
          </a:xfrm>
          <a:prstGeom prst="rect">
            <a:avLst/>
          </a:prstGeom>
          <a:solidFill>
            <a:srgbClr val="FFFFFF">
              <a:alpha val="70000"/>
            </a:srgbClr>
          </a:solidFill>
          <a:ln w="6350">
            <a:solidFill>
              <a:srgbClr val="D840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609344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Clinical notes missing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139696"/>
            <a:ext cx="3383280" cy="457200"/>
          </a:xfrm>
          <a:prstGeom prst="rect">
            <a:avLst/>
          </a:prstGeom>
          <a:solidFill>
            <a:srgbClr val="FFFFFF">
              <a:alpha val="70000"/>
            </a:srgbClr>
          </a:solidFill>
          <a:ln w="6350">
            <a:solidFill>
              <a:srgbClr val="D840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139696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imaging attached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670048"/>
            <a:ext cx="3383280" cy="457200"/>
          </a:xfrm>
          <a:prstGeom prst="rect">
            <a:avLst/>
          </a:prstGeom>
          <a:solidFill>
            <a:srgbClr val="FFFFFF">
              <a:alpha val="70000"/>
            </a:srgbClr>
          </a:solidFill>
          <a:ln w="6350">
            <a:solidFill>
              <a:srgbClr val="D840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670048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Conservative tx history absent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11480" y="2834640"/>
            <a:ext cx="3474720" cy="914400"/>
          </a:xfrm>
          <a:prstGeom prst="rect">
            <a:avLst/>
          </a:prstGeom>
          <a:solidFill>
            <a:srgbClr val="D84040">
              <a:alpha val="18000"/>
            </a:srgbClr>
          </a:solidFill>
          <a:ln w="9525">
            <a:solidFill>
              <a:srgbClr val="D8404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" y="2880360"/>
            <a:ext cx="3337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BNCA: HOLD — Cannot submit. 3 required fields missing.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14800" y="1024128"/>
            <a:ext cx="3657600" cy="3794760"/>
          </a:xfrm>
          <a:prstGeom prst="rect">
            <a:avLst/>
          </a:prstGeom>
          <a:solidFill>
            <a:srgbClr val="FEF3C7"/>
          </a:solidFill>
          <a:ln w="9525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25400" dir="8100000">
              <a:srgbClr val="0B1F3A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114800" y="1024128"/>
            <a:ext cx="3657600" cy="47548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24528" y="1069848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 — Conflicting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251960" y="1609344"/>
            <a:ext cx="3383280" cy="457200"/>
          </a:xfrm>
          <a:prstGeom prst="rect">
            <a:avLst/>
          </a:prstGeom>
          <a:solidFill>
            <a:srgbClr val="FFFFFF">
              <a:alpha val="70000"/>
            </a:srgbClr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43400" y="1609344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Dual diagnosis conflict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251960" y="2139696"/>
            <a:ext cx="3383280" cy="457200"/>
          </a:xfrm>
          <a:prstGeom prst="rect">
            <a:avLst/>
          </a:prstGeom>
          <a:solidFill>
            <a:srgbClr val="FFFFFF">
              <a:alpha val="70000"/>
            </a:srgbClr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43400" y="2139696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Insurance policy EXPIRED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251960" y="2670048"/>
            <a:ext cx="3383280" cy="457200"/>
          </a:xfrm>
          <a:prstGeom prst="rect">
            <a:avLst/>
          </a:prstGeom>
          <a:solidFill>
            <a:srgbClr val="FFFFFF">
              <a:alpha val="70000"/>
            </a:srgbClr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43400" y="2670048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URGENT flag, no escalation path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206240" y="2834640"/>
            <a:ext cx="3474720" cy="914400"/>
          </a:xfrm>
          <a:prstGeom prst="rect">
            <a:avLst/>
          </a:prstGeom>
          <a:solidFill>
            <a:srgbClr val="D97706">
              <a:alpha val="18000"/>
            </a:srgbClr>
          </a:solidFill>
          <a:ln w="9525">
            <a:solidFill>
              <a:srgbClr val="D9770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79392" y="2880360"/>
            <a:ext cx="3337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BNCA: URGENT HOLD — Two critical blockers. Same-day resolution required.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909560" y="1024128"/>
            <a:ext cx="3657600" cy="3794760"/>
          </a:xfrm>
          <a:prstGeom prst="rect">
            <a:avLst/>
          </a:prstGeom>
          <a:solidFill>
            <a:srgbClr val="D1FAE5"/>
          </a:solidFill>
          <a:ln w="9525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25400" dir="8100000">
              <a:srgbClr val="0B1F3A">
                <a:alpha val="7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909560" y="1024128"/>
            <a:ext cx="3657600" cy="47548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019288" y="1069848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 — Complete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8046720" y="1609344"/>
            <a:ext cx="3383280" cy="457200"/>
          </a:xfrm>
          <a:prstGeom prst="rect">
            <a:avLst/>
          </a:prstGeom>
          <a:solidFill>
            <a:srgbClr val="FFFFFF">
              <a:alpha val="70000"/>
            </a:srgbClr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138160" y="1609344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CPT 27447 + ICD-10 verified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046720" y="2139696"/>
            <a:ext cx="3383280" cy="457200"/>
          </a:xfrm>
          <a:prstGeom prst="rect">
            <a:avLst/>
          </a:prstGeom>
          <a:solidFill>
            <a:srgbClr val="FFFFFF">
              <a:alpha val="70000"/>
            </a:srgbClr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138160" y="2139696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Policy active through 12/2025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8046720" y="2670048"/>
            <a:ext cx="3383280" cy="457200"/>
          </a:xfrm>
          <a:prstGeom prst="rect">
            <a:avLst/>
          </a:prstGeom>
          <a:solidFill>
            <a:srgbClr val="FFFFFF">
              <a:alpha val="70000"/>
            </a:srgbClr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138160" y="2670048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8-month PT failure documented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8001000" y="2834640"/>
            <a:ext cx="3474720" cy="914400"/>
          </a:xfrm>
          <a:prstGeom prst="rect">
            <a:avLst/>
          </a:prstGeom>
          <a:solidFill>
            <a:srgbClr val="059669">
              <a:alpha val="18000"/>
            </a:srgbClr>
          </a:solidFill>
          <a:ln w="9525">
            <a:solidFill>
              <a:srgbClr val="05966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074152" y="2880360"/>
            <a:ext cx="3337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BNCA: APPROVE &amp; SUBMIT — Auto-approval expected 24-48hrs.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20040" y="4956048"/>
            <a:ext cx="11475720" cy="621792"/>
          </a:xfrm>
          <a:prstGeom prst="rect">
            <a:avLst/>
          </a:prstGeom>
          <a:solidFill>
            <a:srgbClr val="E0F5F2"/>
          </a:solidFill>
          <a:ln w="9525">
            <a:solidFill>
              <a:srgbClr val="00A89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5488" y="5029200"/>
            <a:ext cx="11155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GHS catches policy expiration and diagnosis conflict before submission — saving 2-3 days of payer back-and-forth.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20040" y="5650992"/>
            <a:ext cx="11475720" cy="5029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5650992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🖱  DEMO: Click Prior Auth → v1 → Process → observe HOLD → v3 → Process → observe APPROVE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11247120" y="653796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11521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  Discharge Summary — Version Comparison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594360"/>
            <a:ext cx="11521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8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readmission rates directly tied to documentation quality. Missing LACE scores are Banner top compliance gap.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024128"/>
            <a:ext cx="3657600" cy="3794760"/>
          </a:xfrm>
          <a:prstGeom prst="rect">
            <a:avLst/>
          </a:prstGeom>
          <a:solidFill>
            <a:srgbClr val="FDECEA"/>
          </a:solidFill>
          <a:ln w="9525">
            <a:solidFill>
              <a:srgbClr val="D84040"/>
            </a:solidFill>
            <a:prstDash val="solid"/>
          </a:ln>
          <a:effectLst>
            <a:outerShdw sx="100000" sy="100000" kx="0" ky="0" algn="bl" rotWithShape="0" blurRad="101600" dist="25400" dir="8100000">
              <a:srgbClr val="0B1F3A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24128"/>
            <a:ext cx="3657600" cy="475488"/>
          </a:xfrm>
          <a:prstGeom prst="rect">
            <a:avLst/>
          </a:prstGeom>
          <a:solidFill>
            <a:srgbClr val="D84040"/>
          </a:solidFill>
          <a:ln w="12700">
            <a:solidFill>
              <a:srgbClr val="D840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1069848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— Minimal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609344"/>
            <a:ext cx="3383280" cy="457200"/>
          </a:xfrm>
          <a:prstGeom prst="rect">
            <a:avLst/>
          </a:prstGeom>
          <a:solidFill>
            <a:srgbClr val="FFFFFF">
              <a:alpha val="70000"/>
            </a:srgbClr>
          </a:solidFill>
          <a:ln w="6350">
            <a:solidFill>
              <a:srgbClr val="D840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609344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follow-up orders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139696"/>
            <a:ext cx="3383280" cy="457200"/>
          </a:xfrm>
          <a:prstGeom prst="rect">
            <a:avLst/>
          </a:prstGeom>
          <a:solidFill>
            <a:srgbClr val="FFFFFF">
              <a:alpha val="70000"/>
            </a:srgbClr>
          </a:solidFill>
          <a:ln w="6350">
            <a:solidFill>
              <a:srgbClr val="D840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139696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Medication list incomplete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670048"/>
            <a:ext cx="3383280" cy="457200"/>
          </a:xfrm>
          <a:prstGeom prst="rect">
            <a:avLst/>
          </a:prstGeom>
          <a:solidFill>
            <a:srgbClr val="FFFFFF">
              <a:alpha val="70000"/>
            </a:srgbClr>
          </a:solidFill>
          <a:ln w="6350">
            <a:solidFill>
              <a:srgbClr val="D840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670048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LACE score uncalculated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11480" y="2834640"/>
            <a:ext cx="3474720" cy="914400"/>
          </a:xfrm>
          <a:prstGeom prst="rect">
            <a:avLst/>
          </a:prstGeom>
          <a:solidFill>
            <a:srgbClr val="D84040">
              <a:alpha val="18000"/>
            </a:srgbClr>
          </a:solidFill>
          <a:ln w="9525">
            <a:solidFill>
              <a:srgbClr val="D8404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" y="2880360"/>
            <a:ext cx="3337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BNCA: ESCALATE — Discharge cannot be finalized.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14800" y="1024128"/>
            <a:ext cx="3657600" cy="3794760"/>
          </a:xfrm>
          <a:prstGeom prst="rect">
            <a:avLst/>
          </a:prstGeom>
          <a:solidFill>
            <a:srgbClr val="FEF3C7"/>
          </a:solidFill>
          <a:ln w="9525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25400" dir="8100000">
              <a:srgbClr val="0B1F3A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114800" y="1024128"/>
            <a:ext cx="3657600" cy="47548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24528" y="1069848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 — High Risk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251960" y="1609344"/>
            <a:ext cx="3383280" cy="457200"/>
          </a:xfrm>
          <a:prstGeom prst="rect">
            <a:avLst/>
          </a:prstGeom>
          <a:solidFill>
            <a:srgbClr val="FFFFFF">
              <a:alpha val="70000"/>
            </a:srgbClr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43400" y="1609344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LACE score: 14 (HIGH RISK)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251960" y="2139696"/>
            <a:ext cx="3383280" cy="457200"/>
          </a:xfrm>
          <a:prstGeom prst="rect">
            <a:avLst/>
          </a:prstGeom>
          <a:solidFill>
            <a:srgbClr val="FFFFFF">
              <a:alpha val="70000"/>
            </a:srgbClr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43400" y="2139696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Patient lives alone — no transport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251960" y="2670048"/>
            <a:ext cx="3383280" cy="457200"/>
          </a:xfrm>
          <a:prstGeom prst="rect">
            <a:avLst/>
          </a:prstGeom>
          <a:solidFill>
            <a:srgbClr val="FFFFFF">
              <a:alpha val="70000"/>
            </a:srgbClr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43400" y="2670048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Weight monitoring verbal only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206240" y="2834640"/>
            <a:ext cx="3474720" cy="914400"/>
          </a:xfrm>
          <a:prstGeom prst="rect">
            <a:avLst/>
          </a:prstGeom>
          <a:solidFill>
            <a:srgbClr val="D97706">
              <a:alpha val="18000"/>
            </a:srgbClr>
          </a:solidFill>
          <a:ln w="9525">
            <a:solidFill>
              <a:srgbClr val="D9770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79392" y="2880360"/>
            <a:ext cx="3337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BNCA: INTERVENE — 5 immediate actions required before discharge.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909560" y="1024128"/>
            <a:ext cx="3657600" cy="3794760"/>
          </a:xfrm>
          <a:prstGeom prst="rect">
            <a:avLst/>
          </a:prstGeom>
          <a:solidFill>
            <a:srgbClr val="D1FAE5"/>
          </a:solidFill>
          <a:ln w="9525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25400" dir="8100000">
              <a:srgbClr val="0B1F3A">
                <a:alpha val="7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909560" y="1024128"/>
            <a:ext cx="3657600" cy="47548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019288" y="1069848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 — Complete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8046720" y="1609344"/>
            <a:ext cx="3383280" cy="457200"/>
          </a:xfrm>
          <a:prstGeom prst="rect">
            <a:avLst/>
          </a:prstGeom>
          <a:solidFill>
            <a:srgbClr val="FFFFFF">
              <a:alpha val="70000"/>
            </a:srgbClr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138160" y="1609344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TCM enrolled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046720" y="2139696"/>
            <a:ext cx="3383280" cy="457200"/>
          </a:xfrm>
          <a:prstGeom prst="rect">
            <a:avLst/>
          </a:prstGeom>
          <a:solidFill>
            <a:srgbClr val="FFFFFF">
              <a:alpha val="70000"/>
            </a:srgbClr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138160" y="2139696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Home health ordered next day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8046720" y="2670048"/>
            <a:ext cx="3383280" cy="457200"/>
          </a:xfrm>
          <a:prstGeom prst="rect">
            <a:avLst/>
          </a:prstGeom>
          <a:solidFill>
            <a:srgbClr val="FFFFFF">
              <a:alpha val="70000"/>
            </a:srgbClr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138160" y="2670048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Cardiology + PCP within 7 days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8001000" y="2834640"/>
            <a:ext cx="3474720" cy="914400"/>
          </a:xfrm>
          <a:prstGeom prst="rect">
            <a:avLst/>
          </a:prstGeom>
          <a:solidFill>
            <a:srgbClr val="059669">
              <a:alpha val="18000"/>
            </a:srgbClr>
          </a:solidFill>
          <a:ln w="9525">
            <a:solidFill>
              <a:srgbClr val="05966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074152" y="2880360"/>
            <a:ext cx="3337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BNCA: APPROVE DISCHARGE — All readmission prevention in place.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20040" y="4956048"/>
            <a:ext cx="11475720" cy="621792"/>
          </a:xfrm>
          <a:prstGeom prst="rect">
            <a:avLst/>
          </a:prstGeom>
          <a:solidFill>
            <a:srgbClr val="E0F5F2"/>
          </a:solidFill>
          <a:ln w="9525">
            <a:solidFill>
              <a:srgbClr val="00A89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5488" y="5029200"/>
            <a:ext cx="11155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GHS catches solo-living + no-transport + verbal-only education — the exact profile that readmits within 30 days.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20040" y="5650992"/>
            <a:ext cx="11475720" cy="5029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5650992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🖱  DEMO: Discharge Summary → v2 → show LACE 14 flag → v3 → APPROVE output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11247120" y="653796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18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11521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Claim Denial — Version Comparison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594360"/>
            <a:ext cx="11521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8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Banner loses millions to underpursued appeals. CO-97/CO-4 dual-code denials frequently misrouted or abandoned.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024128"/>
            <a:ext cx="3657600" cy="3794760"/>
          </a:xfrm>
          <a:prstGeom prst="rect">
            <a:avLst/>
          </a:prstGeom>
          <a:solidFill>
            <a:srgbClr val="FDECEA"/>
          </a:solidFill>
          <a:ln w="9525">
            <a:solidFill>
              <a:srgbClr val="D84040"/>
            </a:solidFill>
            <a:prstDash val="solid"/>
          </a:ln>
          <a:effectLst>
            <a:outerShdw sx="100000" sy="100000" kx="0" ky="0" algn="bl" rotWithShape="0" blurRad="101600" dist="25400" dir="8100000">
              <a:srgbClr val="0B1F3A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24128"/>
            <a:ext cx="3657600" cy="475488"/>
          </a:xfrm>
          <a:prstGeom prst="rect">
            <a:avLst/>
          </a:prstGeom>
          <a:solidFill>
            <a:srgbClr val="D84040"/>
          </a:solidFill>
          <a:ln w="12700">
            <a:solidFill>
              <a:srgbClr val="D840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1069848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— Bare Denial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609344"/>
            <a:ext cx="3383280" cy="457200"/>
          </a:xfrm>
          <a:prstGeom prst="rect">
            <a:avLst/>
          </a:prstGeom>
          <a:solidFill>
            <a:srgbClr val="FFFFFF">
              <a:alpha val="70000"/>
            </a:srgbClr>
          </a:solidFill>
          <a:ln w="6350">
            <a:solidFill>
              <a:srgbClr val="D840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609344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appeal deadline stated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139696"/>
            <a:ext cx="3383280" cy="457200"/>
          </a:xfrm>
          <a:prstGeom prst="rect">
            <a:avLst/>
          </a:prstGeom>
          <a:solidFill>
            <a:srgbClr val="FFFFFF">
              <a:alpha val="70000"/>
            </a:srgbClr>
          </a:solidFill>
          <a:ln w="6350">
            <a:solidFill>
              <a:srgbClr val="D840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139696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contact information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670048"/>
            <a:ext cx="3383280" cy="457200"/>
          </a:xfrm>
          <a:prstGeom prst="rect">
            <a:avLst/>
          </a:prstGeom>
          <a:solidFill>
            <a:srgbClr val="FFFFFF">
              <a:alpha val="70000"/>
            </a:srgbClr>
          </a:solidFill>
          <a:ln w="6350">
            <a:solidFill>
              <a:srgbClr val="D840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670048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Original claim not on file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11480" y="2834640"/>
            <a:ext cx="3474720" cy="914400"/>
          </a:xfrm>
          <a:prstGeom prst="rect">
            <a:avLst/>
          </a:prstGeom>
          <a:solidFill>
            <a:srgbClr val="D84040">
              <a:alpha val="18000"/>
            </a:srgbClr>
          </a:solidFill>
          <a:ln w="9525">
            <a:solidFill>
              <a:srgbClr val="D8404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" y="2880360"/>
            <a:ext cx="3337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BNCA: INVESTIGATE — File cannot be appealed. Clock may be running.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14800" y="1024128"/>
            <a:ext cx="3657600" cy="3794760"/>
          </a:xfrm>
          <a:prstGeom prst="rect">
            <a:avLst/>
          </a:prstGeom>
          <a:solidFill>
            <a:srgbClr val="FEF3C7"/>
          </a:solidFill>
          <a:ln w="9525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25400" dir="8100000">
              <a:srgbClr val="0B1F3A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114800" y="1024128"/>
            <a:ext cx="3657600" cy="47548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24528" y="1069848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 — Conflicting Codes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251960" y="1609344"/>
            <a:ext cx="3383280" cy="457200"/>
          </a:xfrm>
          <a:prstGeom prst="rect">
            <a:avLst/>
          </a:prstGeom>
          <a:solidFill>
            <a:srgbClr val="FFFFFF">
              <a:alpha val="70000"/>
            </a:srgbClr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43400" y="1609344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CO-97 + CO-4 dual code conflict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251960" y="2139696"/>
            <a:ext cx="3383280" cy="457200"/>
          </a:xfrm>
          <a:prstGeom prst="rect">
            <a:avLst/>
          </a:prstGeom>
          <a:solidFill>
            <a:srgbClr val="FFFFFF">
              <a:alpha val="70000"/>
            </a:srgbClr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43400" y="2139696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Original claim missing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251960" y="2670048"/>
            <a:ext cx="3383280" cy="457200"/>
          </a:xfrm>
          <a:prstGeom prst="rect">
            <a:avLst/>
          </a:prstGeom>
          <a:solidFill>
            <a:srgbClr val="FFFFFF">
              <a:alpha val="70000"/>
            </a:srgbClr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43400" y="2670048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Appeal deadline: 05/10/2025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206240" y="2834640"/>
            <a:ext cx="3474720" cy="914400"/>
          </a:xfrm>
          <a:prstGeom prst="rect">
            <a:avLst/>
          </a:prstGeom>
          <a:solidFill>
            <a:srgbClr val="D97706">
              <a:alpha val="18000"/>
            </a:srgbClr>
          </a:solidFill>
          <a:ln w="9525">
            <a:solidFill>
              <a:srgbClr val="D9770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79392" y="2880360"/>
            <a:ext cx="3337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BNCA: APPEAL RECOMMENDED — Dual-code = payer error. Act by 05/05.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909560" y="1024128"/>
            <a:ext cx="3657600" cy="3794760"/>
          </a:xfrm>
          <a:prstGeom prst="rect">
            <a:avLst/>
          </a:prstGeom>
          <a:solidFill>
            <a:srgbClr val="D1FAE5"/>
          </a:solidFill>
          <a:ln w="9525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25400" dir="8100000">
              <a:srgbClr val="0B1F3A">
                <a:alpha val="7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909560" y="1024128"/>
            <a:ext cx="3657600" cy="47548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019288" y="1069848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 — Actionable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8046720" y="1609344"/>
            <a:ext cx="3383280" cy="457200"/>
          </a:xfrm>
          <a:prstGeom prst="rect">
            <a:avLst/>
          </a:prstGeom>
          <a:solidFill>
            <a:srgbClr val="FFFFFF">
              <a:alpha val="70000"/>
            </a:srgbClr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138160" y="1609344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CO-97 resolved: BCB-99100 paid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046720" y="2139696"/>
            <a:ext cx="3383280" cy="457200"/>
          </a:xfrm>
          <a:prstGeom prst="rect">
            <a:avLst/>
          </a:prstGeom>
          <a:solidFill>
            <a:srgbClr val="FFFFFF">
              <a:alpha val="70000"/>
            </a:srgbClr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138160" y="2139696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Full contact info present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8046720" y="2670048"/>
            <a:ext cx="3383280" cy="457200"/>
          </a:xfrm>
          <a:prstGeom prst="rect">
            <a:avLst/>
          </a:prstGeom>
          <a:solidFill>
            <a:srgbClr val="FFFFFF">
              <a:alpha val="70000"/>
            </a:srgbClr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138160" y="2670048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Clinical notes + remit required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8001000" y="2834640"/>
            <a:ext cx="3474720" cy="914400"/>
          </a:xfrm>
          <a:prstGeom prst="rect">
            <a:avLst/>
          </a:prstGeom>
          <a:solidFill>
            <a:srgbClr val="059669">
              <a:alpha val="18000"/>
            </a:srgbClr>
          </a:solidFill>
          <a:ln w="9525">
            <a:solidFill>
              <a:srgbClr val="05966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074152" y="2880360"/>
            <a:ext cx="3337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BNCA: EXECUTE APPEAL — Pull remit, submit before 05/05.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20040" y="4956048"/>
            <a:ext cx="11475720" cy="621792"/>
          </a:xfrm>
          <a:prstGeom prst="rect">
            <a:avLst/>
          </a:prstGeom>
          <a:solidFill>
            <a:srgbClr val="E0F5F2"/>
          </a:solidFill>
          <a:ln w="9525">
            <a:solidFill>
              <a:srgbClr val="00A89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5488" y="5029200"/>
            <a:ext cx="11155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GHS identifies CO-97+CO-4 as payer error signature — routes to appeals, not write-off.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20040" y="5650992"/>
            <a:ext cx="11475720" cy="5029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5650992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🖱  DEMO: Claim Denial → v1 → show revenue risk → v3 → EXECUTE APPEAL output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11247120" y="653796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18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11521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💊  Medication Reconciliation — Version Comparison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594360"/>
            <a:ext cx="11521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8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 discrepancies are #1 cause of preventable adverse events during care transitions. Manual misses ~30% of dose errors.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024128"/>
            <a:ext cx="3657600" cy="3794760"/>
          </a:xfrm>
          <a:prstGeom prst="rect">
            <a:avLst/>
          </a:prstGeom>
          <a:solidFill>
            <a:srgbClr val="FDECEA"/>
          </a:solidFill>
          <a:ln w="9525">
            <a:solidFill>
              <a:srgbClr val="D84040"/>
            </a:solidFill>
            <a:prstDash val="solid"/>
          </a:ln>
          <a:effectLst>
            <a:outerShdw sx="100000" sy="100000" kx="0" ky="0" algn="bl" rotWithShape="0" blurRad="101600" dist="25400" dir="8100000">
              <a:srgbClr val="0B1F3A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24128"/>
            <a:ext cx="3657600" cy="475488"/>
          </a:xfrm>
          <a:prstGeom prst="rect">
            <a:avLst/>
          </a:prstGeom>
          <a:solidFill>
            <a:srgbClr val="D84040"/>
          </a:solidFill>
          <a:ln w="12700">
            <a:solidFill>
              <a:srgbClr val="D840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1069848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— Unverified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609344"/>
            <a:ext cx="3383280" cy="457200"/>
          </a:xfrm>
          <a:prstGeom prst="rect">
            <a:avLst/>
          </a:prstGeom>
          <a:solidFill>
            <a:srgbClr val="FFFFFF">
              <a:alpha val="70000"/>
            </a:srgbClr>
          </a:solidFill>
          <a:ln w="6350">
            <a:solidFill>
              <a:srgbClr val="D840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609344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Patient unable to list meds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139696"/>
            <a:ext cx="3383280" cy="457200"/>
          </a:xfrm>
          <a:prstGeom prst="rect">
            <a:avLst/>
          </a:prstGeom>
          <a:solidFill>
            <a:srgbClr val="FFFFFF">
              <a:alpha val="70000"/>
            </a:srgbClr>
          </a:solidFill>
          <a:ln w="6350">
            <a:solidFill>
              <a:srgbClr val="D840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139696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pharmacy pull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670048"/>
            <a:ext cx="3383280" cy="457200"/>
          </a:xfrm>
          <a:prstGeom prst="rect">
            <a:avLst/>
          </a:prstGeom>
          <a:solidFill>
            <a:srgbClr val="FFFFFF">
              <a:alpha val="70000"/>
            </a:srgbClr>
          </a:solidFill>
          <a:ln w="6350">
            <a:solidFill>
              <a:srgbClr val="D840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670048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INR status unknown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11480" y="2834640"/>
            <a:ext cx="3474720" cy="914400"/>
          </a:xfrm>
          <a:prstGeom prst="rect">
            <a:avLst/>
          </a:prstGeom>
          <a:solidFill>
            <a:srgbClr val="D84040">
              <a:alpha val="18000"/>
            </a:srgbClr>
          </a:solidFill>
          <a:ln w="9525">
            <a:solidFill>
              <a:srgbClr val="D8404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" y="2880360"/>
            <a:ext cx="3337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BNCA: STOP — Do not administer. Pull pharmacy records immediately.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14800" y="1024128"/>
            <a:ext cx="3657600" cy="3794760"/>
          </a:xfrm>
          <a:prstGeom prst="rect">
            <a:avLst/>
          </a:prstGeom>
          <a:solidFill>
            <a:srgbClr val="FEF3C7"/>
          </a:solidFill>
          <a:ln w="9525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25400" dir="8100000">
              <a:srgbClr val="0B1F3A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114800" y="1024128"/>
            <a:ext cx="3657600" cy="47548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24528" y="1069848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 — Discrepancy Found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251960" y="1609344"/>
            <a:ext cx="3383280" cy="457200"/>
          </a:xfrm>
          <a:prstGeom prst="rect">
            <a:avLst/>
          </a:prstGeom>
          <a:solidFill>
            <a:srgbClr val="FFFFFF">
              <a:alpha val="70000"/>
            </a:srgbClr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43400" y="1609344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Metoprolol: 25mg home vs 50mg ordered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251960" y="2139696"/>
            <a:ext cx="3383280" cy="457200"/>
          </a:xfrm>
          <a:prstGeom prst="rect">
            <a:avLst/>
          </a:prstGeom>
          <a:solidFill>
            <a:srgbClr val="FFFFFF">
              <a:alpha val="70000"/>
            </a:srgbClr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43400" y="2139696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Atorvastatin missing from orders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251960" y="2670048"/>
            <a:ext cx="3383280" cy="457200"/>
          </a:xfrm>
          <a:prstGeom prst="rect">
            <a:avLst/>
          </a:prstGeom>
          <a:solidFill>
            <a:srgbClr val="FFFFFF">
              <a:alpha val="70000"/>
            </a:srgbClr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43400" y="2670048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INR 4.2 — supratherapeutic, no hold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206240" y="2834640"/>
            <a:ext cx="3474720" cy="914400"/>
          </a:xfrm>
          <a:prstGeom prst="rect">
            <a:avLst/>
          </a:prstGeom>
          <a:solidFill>
            <a:srgbClr val="D97706">
              <a:alpha val="18000"/>
            </a:srgbClr>
          </a:solidFill>
          <a:ln w="9525">
            <a:solidFill>
              <a:srgbClr val="D9770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79392" y="2880360"/>
            <a:ext cx="3337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BNCA: URGENT INTERVENTION — 3 patient safety events identified.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909560" y="1024128"/>
            <a:ext cx="3657600" cy="3794760"/>
          </a:xfrm>
          <a:prstGeom prst="rect">
            <a:avLst/>
          </a:prstGeom>
          <a:solidFill>
            <a:srgbClr val="D1FAE5"/>
          </a:solidFill>
          <a:ln w="9525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25400" dir="8100000">
              <a:srgbClr val="0B1F3A">
                <a:alpha val="7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909560" y="1024128"/>
            <a:ext cx="3657600" cy="47548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019288" y="1069848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 — Reconciled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8046720" y="1609344"/>
            <a:ext cx="3383280" cy="457200"/>
          </a:xfrm>
          <a:prstGeom prst="rect">
            <a:avLst/>
          </a:prstGeom>
          <a:solidFill>
            <a:srgbClr val="FFFFFF">
              <a:alpha val="70000"/>
            </a:srgbClr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138160" y="1609344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All discrepancies corrected + cosigned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046720" y="2139696"/>
            <a:ext cx="3383280" cy="457200"/>
          </a:xfrm>
          <a:prstGeom prst="rect">
            <a:avLst/>
          </a:prstGeom>
          <a:solidFill>
            <a:srgbClr val="FFFFFF">
              <a:alpha val="70000"/>
            </a:srgbClr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138160" y="2139696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INR hold ordered, recheck 04/24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8046720" y="2670048"/>
            <a:ext cx="3383280" cy="457200"/>
          </a:xfrm>
          <a:prstGeom prst="rect">
            <a:avLst/>
          </a:prstGeom>
          <a:solidFill>
            <a:srgbClr val="FFFFFF">
              <a:alpha val="70000"/>
            </a:srgbClr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138160" y="2670048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Allergy upgraded: Penicillin → Anaphylaxis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8001000" y="2834640"/>
            <a:ext cx="3474720" cy="914400"/>
          </a:xfrm>
          <a:prstGeom prst="rect">
            <a:avLst/>
          </a:prstGeom>
          <a:solidFill>
            <a:srgbClr val="059669">
              <a:alpha val="18000"/>
            </a:srgbClr>
          </a:solidFill>
          <a:ln w="9525">
            <a:solidFill>
              <a:srgbClr val="05966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074152" y="2880360"/>
            <a:ext cx="3337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BNCA: COMPLETE — Reconciliation verified. No further action.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20040" y="4956048"/>
            <a:ext cx="11475720" cy="621792"/>
          </a:xfrm>
          <a:prstGeom prst="rect">
            <a:avLst/>
          </a:prstGeom>
          <a:solidFill>
            <a:srgbClr val="E0F5F2"/>
          </a:solidFill>
          <a:ln w="9525">
            <a:solidFill>
              <a:srgbClr val="00A89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5488" y="5029200"/>
            <a:ext cx="11155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GHS catches INR 4.2 + no hold order — a bleeding event waiting to happen — before any dose is administered.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20040" y="5650992"/>
            <a:ext cx="11475720" cy="5029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5650992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🖱  DEMO: Med Reconciliation → v2 → show 3 patient safety flags → v3 → COMPLETE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11247120" y="653796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18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11521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Narrative — What the Audience Sees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0040" y="694944"/>
            <a:ext cx="1152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this script during the live demo.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11475720" cy="438912"/>
          </a:xfrm>
          <a:prstGeom prst="rect">
            <a:avLst/>
          </a:prstGeom>
          <a:solidFill>
            <a:srgbClr val="FFFFFF">
              <a:alpha val="7000"/>
            </a:srgbClr>
          </a:solidFill>
          <a:ln w="6350">
            <a:solidFill>
              <a:srgbClr val="4A6FA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97280"/>
            <a:ext cx="594360" cy="438912"/>
          </a:xfrm>
          <a:prstGeom prst="rect">
            <a:avLst/>
          </a:prstGeom>
          <a:solidFill>
            <a:srgbClr val="4A6FA5">
              <a:alpha val="80000"/>
            </a:srgbClr>
          </a:solidFill>
          <a:ln w="12700">
            <a:solidFill>
              <a:srgbClr val="4A6FA5">
                <a:alpha val="8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97280"/>
            <a:ext cx="594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05840" y="1133856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Demo Interface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429000" y="1133856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GHS Healthcare Command. Every document type Banner encounters is already loaded.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1591056"/>
            <a:ext cx="11475720" cy="438912"/>
          </a:xfrm>
          <a:prstGeom prst="rect">
            <a:avLst/>
          </a:prstGeom>
          <a:solidFill>
            <a:srgbClr val="FFFFFF">
              <a:alpha val="7000"/>
            </a:srgbClr>
          </a:solidFill>
          <a:ln w="6350">
            <a:solidFill>
              <a:srgbClr val="4A6FA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1591056"/>
            <a:ext cx="594360" cy="438912"/>
          </a:xfrm>
          <a:prstGeom prst="rect">
            <a:avLst/>
          </a:prstGeom>
          <a:solidFill>
            <a:srgbClr val="4A6FA5">
              <a:alpha val="80000"/>
            </a:srgbClr>
          </a:solidFill>
          <a:ln w="12700">
            <a:solidFill>
              <a:srgbClr val="4A6FA5">
                <a:alpha val="8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591056"/>
            <a:ext cx="594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0:15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05840" y="162763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Prior Auth — v1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429000" y="162763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is what an incomplete PA looks like when it hits your queue. Let us run it.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2084832"/>
            <a:ext cx="11475720" cy="438912"/>
          </a:xfrm>
          <a:prstGeom prst="rect">
            <a:avLst/>
          </a:prstGeom>
          <a:solidFill>
            <a:srgbClr val="FFFFFF">
              <a:alpha val="7000"/>
            </a:srgbClr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2084832"/>
            <a:ext cx="594360" cy="438912"/>
          </a:xfrm>
          <a:prstGeom prst="rect">
            <a:avLst/>
          </a:prstGeom>
          <a:solidFill>
            <a:srgbClr val="00A896">
              <a:alpha val="80000"/>
            </a:srgbClr>
          </a:solidFill>
          <a:ln w="12700">
            <a:solidFill>
              <a:srgbClr val="00A896">
                <a:alpha val="8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084832"/>
            <a:ext cx="594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0:22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05840" y="212140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Process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429000" y="212140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nodes — Coding, Compliance, Clinical, Risk — all firing simultaneously.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2578608"/>
            <a:ext cx="11475720" cy="438912"/>
          </a:xfrm>
          <a:prstGeom prst="rect">
            <a:avLst/>
          </a:prstGeom>
          <a:solidFill>
            <a:srgbClr val="FFFFFF">
              <a:alpha val="7000"/>
            </a:srgbClr>
          </a:solidFill>
          <a:ln w="6350">
            <a:solidFill>
              <a:srgbClr val="D8404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2578608"/>
            <a:ext cx="594360" cy="438912"/>
          </a:xfrm>
          <a:prstGeom prst="rect">
            <a:avLst/>
          </a:prstGeom>
          <a:solidFill>
            <a:srgbClr val="D84040">
              <a:alpha val="80000"/>
            </a:srgbClr>
          </a:solidFill>
          <a:ln w="12700">
            <a:solidFill>
              <a:srgbClr val="D84040">
                <a:alpha val="8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2578608"/>
            <a:ext cx="594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8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0:45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05840" y="2615184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BNCA: HOLD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429000" y="2615184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expired. Diagnosis conflict. This would have gone to payer and been denied in 72 hours.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" y="3072384"/>
            <a:ext cx="11475720" cy="438912"/>
          </a:xfrm>
          <a:prstGeom prst="rect">
            <a:avLst/>
          </a:prstGeom>
          <a:solidFill>
            <a:srgbClr val="FFFFFF">
              <a:alpha val="7000"/>
            </a:srgbClr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" y="3072384"/>
            <a:ext cx="594360" cy="438912"/>
          </a:xfrm>
          <a:prstGeom prst="rect">
            <a:avLst/>
          </a:prstGeom>
          <a:solidFill>
            <a:srgbClr val="00A896">
              <a:alpha val="80000"/>
            </a:srgbClr>
          </a:solidFill>
          <a:ln w="12700">
            <a:solidFill>
              <a:srgbClr val="00A896">
                <a:alpha val="8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3072384"/>
            <a:ext cx="594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1:00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005840" y="31089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to v3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429000" y="3108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PA — fully documented. Same workflow, same button.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0040" y="3566160"/>
            <a:ext cx="11475720" cy="438912"/>
          </a:xfrm>
          <a:prstGeom prst="rect">
            <a:avLst/>
          </a:prstGeom>
          <a:solidFill>
            <a:srgbClr val="FFFFFF">
              <a:alpha val="7000"/>
            </a:srgbClr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0040" y="3566160"/>
            <a:ext cx="594360" cy="438912"/>
          </a:xfrm>
          <a:prstGeom prst="rect">
            <a:avLst/>
          </a:prstGeom>
          <a:solidFill>
            <a:srgbClr val="059669">
              <a:alpha val="80000"/>
            </a:srgbClr>
          </a:solidFill>
          <a:ln w="12700">
            <a:solidFill>
              <a:srgbClr val="059669">
                <a:alpha val="8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0040" y="3566160"/>
            <a:ext cx="594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1:30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005840" y="3602736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BNCA: APPROVE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3429000" y="3602736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Auto-approval expected 24-48 hours. No manual review. No phone call to the physician.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20040" y="4059936"/>
            <a:ext cx="11475720" cy="438912"/>
          </a:xfrm>
          <a:prstGeom prst="rect">
            <a:avLst/>
          </a:prstGeom>
          <a:solidFill>
            <a:srgbClr val="FFFFFF">
              <a:alpha val="7000"/>
            </a:srgbClr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20040" y="4059936"/>
            <a:ext cx="594360" cy="438912"/>
          </a:xfrm>
          <a:prstGeom prst="rect">
            <a:avLst/>
          </a:prstGeom>
          <a:solidFill>
            <a:srgbClr val="D97706">
              <a:alpha val="80000"/>
            </a:srgbClr>
          </a:solidFill>
          <a:ln w="12700">
            <a:solidFill>
              <a:srgbClr val="D97706">
                <a:alpha val="8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4059936"/>
            <a:ext cx="594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1:45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005840" y="409651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 Recon — v2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3429000" y="409651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safety scenario. This is where AI saves lives, not just time.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20040" y="4553712"/>
            <a:ext cx="11475720" cy="438912"/>
          </a:xfrm>
          <a:prstGeom prst="rect">
            <a:avLst/>
          </a:prstGeom>
          <a:solidFill>
            <a:srgbClr val="FFFFFF">
              <a:alpha val="7000"/>
            </a:srgbClr>
          </a:solidFill>
          <a:ln w="6350">
            <a:solidFill>
              <a:srgbClr val="D8404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20040" y="4553712"/>
            <a:ext cx="594360" cy="438912"/>
          </a:xfrm>
          <a:prstGeom prst="rect">
            <a:avLst/>
          </a:prstGeom>
          <a:solidFill>
            <a:srgbClr val="D84040">
              <a:alpha val="80000"/>
            </a:srgbClr>
          </a:solidFill>
          <a:ln w="12700">
            <a:solidFill>
              <a:srgbClr val="D84040">
                <a:alpha val="80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0040" y="4553712"/>
            <a:ext cx="594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8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2:00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005840" y="459028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 flags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3429000" y="459028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INR 4.2 with no hold order. Metoprolol doubled. Atorvastatin missing. Three events.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20040" y="5047488"/>
            <a:ext cx="11475720" cy="438912"/>
          </a:xfrm>
          <a:prstGeom prst="rect">
            <a:avLst/>
          </a:prstGeom>
          <a:solidFill>
            <a:srgbClr val="FFFFFF">
              <a:alpha val="7000"/>
            </a:srgbClr>
          </a:solidFill>
          <a:ln w="6350">
            <a:solidFill>
              <a:srgbClr val="D8404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20040" y="5047488"/>
            <a:ext cx="594360" cy="438912"/>
          </a:xfrm>
          <a:prstGeom prst="rect">
            <a:avLst/>
          </a:prstGeom>
          <a:solidFill>
            <a:srgbClr val="D84040">
              <a:alpha val="80000"/>
            </a:srgbClr>
          </a:solidFill>
          <a:ln w="12700">
            <a:solidFill>
              <a:srgbClr val="D84040">
                <a:alpha val="80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20040" y="5047488"/>
            <a:ext cx="594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8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2:20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1005840" y="5084064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3429000" y="5084064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patient was 90 seconds from a dangerous dose. GHS caught it at intake.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320040" y="5541264"/>
            <a:ext cx="11475720" cy="438912"/>
          </a:xfrm>
          <a:prstGeom prst="rect">
            <a:avLst/>
          </a:prstGeom>
          <a:solidFill>
            <a:srgbClr val="FFFFFF">
              <a:alpha val="7000"/>
            </a:srgbClr>
          </a:solidFill>
          <a:ln w="6350">
            <a:solidFill>
              <a:srgbClr val="02C39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20040" y="5541264"/>
            <a:ext cx="594360" cy="438912"/>
          </a:xfrm>
          <a:prstGeom prst="rect">
            <a:avLst/>
          </a:prstGeom>
          <a:solidFill>
            <a:srgbClr val="02C39A">
              <a:alpha val="80000"/>
            </a:srgbClr>
          </a:solidFill>
          <a:ln w="12700">
            <a:solidFill>
              <a:srgbClr val="02C39A">
                <a:alpha val="8000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20040" y="5541264"/>
            <a:ext cx="594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2:35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1005840" y="55778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Denial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3429000" y="5577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CO-97 + CO-4 — this is usually written off. GHS routes it to appeals.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11247120" y="653796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18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11521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Feature Guide — Exact Buttons &amp; Actions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20040" y="621792"/>
            <a:ext cx="11521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during the demo to navigate GHS Healthcare Command confidently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557784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AF5"/>
            </a:solidFill>
            <a:prstDash val="solid"/>
          </a:ln>
          <a:effectLst>
            <a:outerShdw sx="100000" sy="100000" kx="0" ky="0" algn="bl" rotWithShape="0" blurRad="101600" dist="25400" dir="8100000">
              <a:srgbClr val="0B1F3A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60120"/>
            <a:ext cx="5577840" cy="411480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996696"/>
            <a:ext cx="53949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Library Panel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9768" y="1490472"/>
            <a:ext cx="1417320" cy="438912"/>
          </a:xfrm>
          <a:prstGeom prst="rect">
            <a:avLst/>
          </a:prstGeom>
          <a:solidFill>
            <a:srgbClr val="4A6FA5">
              <a:alpha val="18000"/>
            </a:srgbClr>
          </a:solidFill>
          <a:ln w="6350">
            <a:solidFill>
              <a:srgbClr val="4A6FA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490472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Type Card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947672" y="1490472"/>
            <a:ext cx="38221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any of 8 cards — turns blue (active). Shows raw document text in preview pane.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29768" y="2039112"/>
            <a:ext cx="1417320" cy="438912"/>
          </a:xfrm>
          <a:prstGeom prst="rect">
            <a:avLst/>
          </a:prstGeom>
          <a:solidFill>
            <a:srgbClr val="4A6FA5">
              <a:alpha val="18000"/>
            </a:srgbClr>
          </a:solidFill>
          <a:ln w="6350">
            <a:solidFill>
              <a:srgbClr val="4A6FA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039112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/ v2 / v3 pills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947672" y="2039112"/>
            <a:ext cx="38221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selector under each card. v1=broken, v2=partial, v3=complete. Active pill turns info-blue.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29768" y="2587752"/>
            <a:ext cx="1417320" cy="438912"/>
          </a:xfrm>
          <a:prstGeom prst="rect">
            <a:avLst/>
          </a:prstGeom>
          <a:solidFill>
            <a:srgbClr val="4A6FA5">
              <a:alpha val="18000"/>
            </a:srgbClr>
          </a:solidFill>
          <a:ln w="6350">
            <a:solidFill>
              <a:srgbClr val="4A6FA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587752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Preview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947672" y="2587752"/>
            <a:ext cx="38221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Auto-appears below cards showing raw document text when version selected.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35040" y="960120"/>
            <a:ext cx="557784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AF5"/>
            </a:solidFill>
            <a:prstDash val="solid"/>
          </a:ln>
          <a:effectLst>
            <a:outerShdw sx="100000" sy="100000" kx="0" ky="0" algn="bl" rotWithShape="0" blurRad="101600" dist="25400" dir="8100000">
              <a:srgbClr val="0B1F3A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35040" y="960120"/>
            <a:ext cx="5577840" cy="41148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44768" y="996696"/>
            <a:ext cx="53949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Control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144768" y="1490472"/>
            <a:ext cx="1417320" cy="438912"/>
          </a:xfrm>
          <a:prstGeom prst="rect">
            <a:avLst/>
          </a:prstGeom>
          <a:solidFill>
            <a:srgbClr val="00A896">
              <a:alpha val="18000"/>
            </a:srgbClr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72200" y="1490472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button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662672" y="1490472"/>
            <a:ext cx="38221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CTA — activates full GHS pipeline. Active once document version selected.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144768" y="2039112"/>
            <a:ext cx="1417320" cy="438912"/>
          </a:xfrm>
          <a:prstGeom prst="rect">
            <a:avLst/>
          </a:prstGeom>
          <a:solidFill>
            <a:srgbClr val="00A896">
              <a:alpha val="18000"/>
            </a:srgbClr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72200" y="2039112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SYNTHESIZE button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7662672" y="2039112"/>
            <a:ext cx="38221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Alternate trigger — same pipeline, different entry point for synthesis-first workflows.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144768" y="2587752"/>
            <a:ext cx="1417320" cy="438912"/>
          </a:xfrm>
          <a:prstGeom prst="rect">
            <a:avLst/>
          </a:prstGeom>
          <a:solidFill>
            <a:srgbClr val="00A896">
              <a:alpha val="18000"/>
            </a:srgbClr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72200" y="2587752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indicators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662672" y="2587752"/>
            <a:ext cx="38221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stages animate: idle (—) → active (spinner) → complete (checkmark).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0040" y="3429000"/>
            <a:ext cx="557784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AF5"/>
            </a:solidFill>
            <a:prstDash val="solid"/>
          </a:ln>
          <a:effectLst>
            <a:outerShdw sx="100000" sy="100000" kx="0" ky="0" algn="bl" rotWithShape="0" blurRad="101600" dist="25400" dir="8100000">
              <a:srgbClr val="0B1F3A">
                <a:alpha val="7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0040" y="3429000"/>
            <a:ext cx="5577840" cy="4114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29768" y="3465576"/>
            <a:ext cx="53949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BNCA Output Panel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29768" y="3959352"/>
            <a:ext cx="1417320" cy="438912"/>
          </a:xfrm>
          <a:prstGeom prst="rect">
            <a:avLst/>
          </a:prstGeom>
          <a:solidFill>
            <a:srgbClr val="02C39A">
              <a:alpha val="18000"/>
            </a:srgbClr>
          </a:solidFill>
          <a:ln w="6350">
            <a:solidFill>
              <a:srgbClr val="02C39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3959352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Confidence scores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1947672" y="3959352"/>
            <a:ext cx="38221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Per-node percentage scores showing AI confidence for each HC-Node analysis.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29768" y="4507992"/>
            <a:ext cx="1417320" cy="438912"/>
          </a:xfrm>
          <a:prstGeom prst="rect">
            <a:avLst/>
          </a:prstGeom>
          <a:solidFill>
            <a:srgbClr val="02C39A">
              <a:alpha val="18000"/>
            </a:srgbClr>
          </a:solidFill>
          <a:ln w="6350">
            <a:solidFill>
              <a:srgbClr val="02C39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4507992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BNCA Recommendation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1947672" y="4507992"/>
            <a:ext cx="38221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HC-Strategist synthesized Best Next Course of Action — specific and actionable.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29768" y="5056632"/>
            <a:ext cx="1417320" cy="438912"/>
          </a:xfrm>
          <a:prstGeom prst="rect">
            <a:avLst/>
          </a:prstGeom>
          <a:solidFill>
            <a:srgbClr val="02C39A">
              <a:alpha val="18000"/>
            </a:srgbClr>
          </a:solidFill>
          <a:ln w="6350">
            <a:solidFill>
              <a:srgbClr val="02C39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5056632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 Action row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1947672" y="5056632"/>
            <a:ext cx="38221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human manager does next. Ties AI output to real workflow.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035040" y="3429000"/>
            <a:ext cx="557784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AF5"/>
            </a:solidFill>
            <a:prstDash val="solid"/>
          </a:ln>
          <a:effectLst>
            <a:outerShdw sx="100000" sy="100000" kx="0" ky="0" algn="bl" rotWithShape="0" blurRad="101600" dist="25400" dir="8100000">
              <a:srgbClr val="0B1F3A">
                <a:alpha val="7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035040" y="3429000"/>
            <a:ext cx="5577840" cy="411480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144768" y="3465576"/>
            <a:ext cx="53949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Interface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6144768" y="3959352"/>
            <a:ext cx="1417320" cy="438912"/>
          </a:xfrm>
          <a:prstGeom prst="rect">
            <a:avLst/>
          </a:prstGeom>
          <a:solidFill>
            <a:srgbClr val="2C4A6E">
              <a:alpha val="18000"/>
            </a:srgbClr>
          </a:solidFill>
          <a:ln w="6350">
            <a:solidFill>
              <a:srgbClr val="2C4A6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172200" y="3959352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tsm-shell.fly.dev/html/ghs/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7662672" y="3959352"/>
            <a:ext cx="38221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in Chrome alongside this deck. Alt-tab between slides and demo.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144768" y="4507992"/>
            <a:ext cx="1417320" cy="438912"/>
          </a:xfrm>
          <a:prstGeom prst="rect">
            <a:avLst/>
          </a:prstGeom>
          <a:solidFill>
            <a:srgbClr val="2C4A6E">
              <a:alpha val="18000"/>
            </a:srgbClr>
          </a:solidFill>
          <a:ln w="6350">
            <a:solidFill>
              <a:srgbClr val="2C4A6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172200" y="4507992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key (localStorage)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7662672" y="4507992"/>
            <a:ext cx="38221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once: window.__GROQ_KEY__ = gsk_... Persists across all refreshes.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144768" y="5056632"/>
            <a:ext cx="1417320" cy="438912"/>
          </a:xfrm>
          <a:prstGeom prst="rect">
            <a:avLst/>
          </a:prstGeom>
          <a:solidFill>
            <a:srgbClr val="2C4A6E">
              <a:alpha val="18000"/>
            </a:srgbClr>
          </a:solidFill>
          <a:ln w="6350">
            <a:solidFill>
              <a:srgbClr val="2C4A6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172200" y="5056632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confidence grid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7662672" y="5056632"/>
            <a:ext cx="38221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of BNCA panel — shows Operations, Medical, Pharmacy, Insurance scores live.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11247120" y="653796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18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11521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Banner Health Impact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0040" y="694944"/>
            <a:ext cx="1152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 projections based on industry benchmarks and Banner document volumes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115568"/>
            <a:ext cx="11475720" cy="713232"/>
          </a:xfrm>
          <a:prstGeom prst="rect">
            <a:avLst/>
          </a:prstGeom>
          <a:solidFill>
            <a:srgbClr val="FFFFFF">
              <a:alpha val="7000"/>
            </a:srgbClr>
          </a:solidFill>
          <a:ln w="635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15568"/>
            <a:ext cx="2514600" cy="713232"/>
          </a:xfrm>
          <a:prstGeom prst="rect">
            <a:avLst/>
          </a:prstGeom>
          <a:solidFill>
            <a:srgbClr val="0B1F3A">
              <a:alpha val="40000"/>
            </a:srgbClr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115568"/>
            <a:ext cx="239572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Authorizations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907792" y="1188720"/>
            <a:ext cx="2331720" cy="566928"/>
          </a:xfrm>
          <a:prstGeom prst="rect">
            <a:avLst/>
          </a:prstGeom>
          <a:solidFill>
            <a:srgbClr val="FDECEA">
              <a:alpha val="80000"/>
            </a:srgbClr>
          </a:solidFill>
          <a:ln w="6350">
            <a:solidFill>
              <a:srgbClr val="D840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71800" y="1188720"/>
            <a:ext cx="2240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 72-hr avg review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349240" y="1188720"/>
            <a:ext cx="2331720" cy="566928"/>
          </a:xfrm>
          <a:prstGeom prst="rect">
            <a:avLst/>
          </a:prstGeom>
          <a:solidFill>
            <a:srgbClr val="D1FAE5">
              <a:alpha val="80000"/>
            </a:srgbClr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13248" y="1188720"/>
            <a:ext cx="2240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GHS  &lt; 2 hrs with GHS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818120" y="1115568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A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approvals, fewer missed treatment windows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1920240"/>
            <a:ext cx="11475720" cy="713232"/>
          </a:xfrm>
          <a:prstGeom prst="rect">
            <a:avLst/>
          </a:prstGeom>
          <a:solidFill>
            <a:srgbClr val="FFFFFF">
              <a:alpha val="7000"/>
            </a:srgbClr>
          </a:solidFill>
          <a:ln w="635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1920240"/>
            <a:ext cx="2514600" cy="713232"/>
          </a:xfrm>
          <a:prstGeom prst="rect">
            <a:avLst/>
          </a:prstGeom>
          <a:solidFill>
            <a:srgbClr val="0B1F3A">
              <a:alpha val="40000"/>
            </a:srgbClr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1920240"/>
            <a:ext cx="239572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Denials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07792" y="1993392"/>
            <a:ext cx="2331720" cy="566928"/>
          </a:xfrm>
          <a:prstGeom prst="rect">
            <a:avLst/>
          </a:prstGeom>
          <a:solidFill>
            <a:srgbClr val="FDECEA">
              <a:alpha val="80000"/>
            </a:srgbClr>
          </a:solidFill>
          <a:ln w="6350">
            <a:solidFill>
              <a:srgbClr val="D8404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71800" y="1993392"/>
            <a:ext cx="2240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 15-25% first-pass denial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349240" y="1993392"/>
            <a:ext cx="2331720" cy="566928"/>
          </a:xfrm>
          <a:prstGeom prst="rect">
            <a:avLst/>
          </a:prstGeom>
          <a:solidFill>
            <a:srgbClr val="D1FAE5">
              <a:alpha val="80000"/>
            </a:srgbClr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13248" y="1993392"/>
            <a:ext cx="2240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GHS  &lt; 5% with GHS pre-check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818120" y="1920240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A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$2-8M annually recovered from denied claims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2724912"/>
            <a:ext cx="11475720" cy="713232"/>
          </a:xfrm>
          <a:prstGeom prst="rect">
            <a:avLst/>
          </a:prstGeom>
          <a:solidFill>
            <a:srgbClr val="FFFFFF">
              <a:alpha val="7000"/>
            </a:srgbClr>
          </a:solidFill>
          <a:ln w="635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" y="2724912"/>
            <a:ext cx="2514600" cy="713232"/>
          </a:xfrm>
          <a:prstGeom prst="rect">
            <a:avLst/>
          </a:prstGeom>
          <a:solidFill>
            <a:srgbClr val="0B1F3A">
              <a:alpha val="40000"/>
            </a:srgbClr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048" y="2724912"/>
            <a:ext cx="239572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Discharge Summaries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907792" y="2798064"/>
            <a:ext cx="2331720" cy="566928"/>
          </a:xfrm>
          <a:prstGeom prst="rect">
            <a:avLst/>
          </a:prstGeom>
          <a:solidFill>
            <a:srgbClr val="FDECEA">
              <a:alpha val="80000"/>
            </a:srgbClr>
          </a:solidFill>
          <a:ln w="6350">
            <a:solidFill>
              <a:srgbClr val="D8404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71800" y="2798064"/>
            <a:ext cx="2240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 Manual LACE scoring, missed follow-ups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349240" y="2798064"/>
            <a:ext cx="2331720" cy="566928"/>
          </a:xfrm>
          <a:prstGeom prst="rect">
            <a:avLst/>
          </a:prstGeom>
          <a:solidFill>
            <a:srgbClr val="D1FAE5">
              <a:alpha val="80000"/>
            </a:srgbClr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13248" y="2798064"/>
            <a:ext cx="2240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GHS  Auto-scored, TCM auto-triggered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818120" y="2724912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A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readmission rate reduction 18-25%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0040" y="3529584"/>
            <a:ext cx="11475720" cy="713232"/>
          </a:xfrm>
          <a:prstGeom prst="rect">
            <a:avLst/>
          </a:prstGeom>
          <a:solidFill>
            <a:srgbClr val="FFFFFF">
              <a:alpha val="7000"/>
            </a:srgbClr>
          </a:solidFill>
          <a:ln w="635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0040" y="3529584"/>
            <a:ext cx="2514600" cy="713232"/>
          </a:xfrm>
          <a:prstGeom prst="rect">
            <a:avLst/>
          </a:prstGeom>
          <a:solidFill>
            <a:srgbClr val="0B1F3A">
              <a:alpha val="40000"/>
            </a:srgbClr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84048" y="3529584"/>
            <a:ext cx="239572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Medication Reconciliation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907792" y="3602736"/>
            <a:ext cx="2331720" cy="566928"/>
          </a:xfrm>
          <a:prstGeom prst="rect">
            <a:avLst/>
          </a:prstGeom>
          <a:solidFill>
            <a:srgbClr val="FDECEA">
              <a:alpha val="80000"/>
            </a:srgbClr>
          </a:solidFill>
          <a:ln w="6350">
            <a:solidFill>
              <a:srgbClr val="D8404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971800" y="3602736"/>
            <a:ext cx="2240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 ~30% of transitions miss discrepancy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349240" y="3602736"/>
            <a:ext cx="2331720" cy="566928"/>
          </a:xfrm>
          <a:prstGeom prst="rect">
            <a:avLst/>
          </a:prstGeom>
          <a:solidFill>
            <a:srgbClr val="D1FAE5">
              <a:alpha val="80000"/>
            </a:srgbClr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13248" y="3602736"/>
            <a:ext cx="2240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GHS  100% verified before administration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818120" y="352958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A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Adverse drug events reduced, malpractice exposure lowered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20040" y="4334256"/>
            <a:ext cx="11475720" cy="713232"/>
          </a:xfrm>
          <a:prstGeom prst="rect">
            <a:avLst/>
          </a:prstGeom>
          <a:solidFill>
            <a:srgbClr val="FFFFFF">
              <a:alpha val="7000"/>
            </a:srgbClr>
          </a:solidFill>
          <a:ln w="635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" y="4334256"/>
            <a:ext cx="2514600" cy="713232"/>
          </a:xfrm>
          <a:prstGeom prst="rect">
            <a:avLst/>
          </a:prstGeom>
          <a:solidFill>
            <a:srgbClr val="0B1F3A">
              <a:alpha val="40000"/>
            </a:srgbClr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84048" y="4334256"/>
            <a:ext cx="239572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&amp; Audit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2907792" y="4407408"/>
            <a:ext cx="2331720" cy="566928"/>
          </a:xfrm>
          <a:prstGeom prst="rect">
            <a:avLst/>
          </a:prstGeom>
          <a:solidFill>
            <a:srgbClr val="FDECEA">
              <a:alpha val="80000"/>
            </a:srgbClr>
          </a:solidFill>
          <a:ln w="6350">
            <a:solidFill>
              <a:srgbClr val="D8404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971800" y="4407408"/>
            <a:ext cx="2240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 Reactive — discovered at audit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349240" y="4407408"/>
            <a:ext cx="2331720" cy="566928"/>
          </a:xfrm>
          <a:prstGeom prst="rect">
            <a:avLst/>
          </a:prstGeom>
          <a:solidFill>
            <a:srgbClr val="D1FAE5">
              <a:alpha val="80000"/>
            </a:srgbClr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413248" y="4407408"/>
            <a:ext cx="2240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GHS  Proactive — caught at intake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818120" y="4334256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A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surprise CMS findings. Every document defensible.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20040" y="5138928"/>
            <a:ext cx="11475720" cy="713232"/>
          </a:xfrm>
          <a:prstGeom prst="rect">
            <a:avLst/>
          </a:prstGeom>
          <a:solidFill>
            <a:srgbClr val="FFFFFF">
              <a:alpha val="7000"/>
            </a:srgbClr>
          </a:solidFill>
          <a:ln w="635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20040" y="5138928"/>
            <a:ext cx="2514600" cy="713232"/>
          </a:xfrm>
          <a:prstGeom prst="rect">
            <a:avLst/>
          </a:prstGeom>
          <a:solidFill>
            <a:srgbClr val="0B1F3A">
              <a:alpha val="40000"/>
            </a:srgbClr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84048" y="5138928"/>
            <a:ext cx="239572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Efficiency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2907792" y="5212080"/>
            <a:ext cx="2331720" cy="566928"/>
          </a:xfrm>
          <a:prstGeom prst="rect">
            <a:avLst/>
          </a:prstGeom>
          <a:solidFill>
            <a:srgbClr val="FDECEA">
              <a:alpha val="80000"/>
            </a:srgbClr>
          </a:solidFill>
          <a:ln w="6350">
            <a:solidFill>
              <a:srgbClr val="D8404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971800" y="5212080"/>
            <a:ext cx="2240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 Hours per document type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5349240" y="5212080"/>
            <a:ext cx="2331720" cy="566928"/>
          </a:xfrm>
          <a:prstGeom prst="rect">
            <a:avLst/>
          </a:prstGeom>
          <a:solidFill>
            <a:srgbClr val="D1FAE5">
              <a:alpha val="80000"/>
            </a:srgbClr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413248" y="5212080"/>
            <a:ext cx="2240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GHS  Minutes with HITL approval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7818120" y="5138928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A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staff time freed for patient care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320040" y="6473952"/>
            <a:ext cx="11475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GHS Healthcare Command pays for itself in recovered claims alone — everything else is operational and clinical upside.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11247120" y="653796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18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11521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— How GHS Integrates with Banner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20040" y="621792"/>
            <a:ext cx="11521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rip-and-replace. GHS layers on existing systems and adds value from day one.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987552"/>
            <a:ext cx="3749040" cy="39776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AF5"/>
            </a:solidFill>
            <a:prstDash val="solid"/>
          </a:ln>
          <a:effectLst>
            <a:outerShdw sx="100000" sy="100000" kx="0" ky="0" algn="bl" rotWithShape="0" blurRad="101600" dist="25400" dir="8100000">
              <a:srgbClr val="0B1F3A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87552"/>
            <a:ext cx="3749040" cy="822960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33272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28016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&amp; Configure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1581912"/>
            <a:ext cx="3520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1-3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1975104"/>
            <a:ext cx="3474720" cy="621792"/>
          </a:xfrm>
          <a:prstGeom prst="rect">
            <a:avLst/>
          </a:prstGeom>
          <a:solidFill>
            <a:srgbClr val="F4F8FE"/>
          </a:solidFill>
          <a:ln w="6350">
            <a:solidFill>
              <a:srgbClr val="DDEAF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975104"/>
            <a:ext cx="45720" cy="621792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1975104"/>
            <a:ext cx="3337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integration with Banner EHR (Epic/Cerner)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2688336"/>
            <a:ext cx="3474720" cy="621792"/>
          </a:xfrm>
          <a:prstGeom prst="rect">
            <a:avLst/>
          </a:prstGeom>
          <a:solidFill>
            <a:srgbClr val="F4F8FE"/>
          </a:solidFill>
          <a:ln w="6350">
            <a:solidFill>
              <a:srgbClr val="DDEA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688336"/>
            <a:ext cx="45720" cy="621792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2688336"/>
            <a:ext cx="3337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intake mapping for all 8 doc types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401568"/>
            <a:ext cx="3474720" cy="621792"/>
          </a:xfrm>
          <a:prstGeom prst="rect">
            <a:avLst/>
          </a:prstGeom>
          <a:solidFill>
            <a:srgbClr val="F4F8FE"/>
          </a:solidFill>
          <a:ln w="6350">
            <a:solidFill>
              <a:srgbClr val="DDEAF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401568"/>
            <a:ext cx="45720" cy="621792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3401568"/>
            <a:ext cx="3337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Payer rule library loaded (BlueCross, Aetna, Medicare)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4114800"/>
            <a:ext cx="3474720" cy="621792"/>
          </a:xfrm>
          <a:prstGeom prst="rect">
            <a:avLst/>
          </a:prstGeom>
          <a:solidFill>
            <a:srgbClr val="F4F8FE"/>
          </a:solidFill>
          <a:ln w="6350">
            <a:solidFill>
              <a:srgbClr val="DDEAF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4114800"/>
            <a:ext cx="45720" cy="621792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4114800"/>
            <a:ext cx="3337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 Manager dashboard configured for Banner workflows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160520" y="987552"/>
            <a:ext cx="3749040" cy="39776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AF5"/>
            </a:solidFill>
            <a:prstDash val="solid"/>
          </a:ln>
          <a:effectLst>
            <a:outerShdw sx="100000" sy="100000" kx="0" ky="0" algn="bl" rotWithShape="0" blurRad="101600" dist="25400" dir="8100000">
              <a:srgbClr val="0B1F3A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160520" y="987552"/>
            <a:ext cx="3749040" cy="82296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97680" y="1033272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297680" y="128016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&amp; Calibrate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297680" y="1581912"/>
            <a:ext cx="3520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4-8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297680" y="1975104"/>
            <a:ext cx="3474720" cy="621792"/>
          </a:xfrm>
          <a:prstGeom prst="rect">
            <a:avLst/>
          </a:prstGeom>
          <a:solidFill>
            <a:srgbClr val="F4F8FE"/>
          </a:solidFill>
          <a:ln w="6350">
            <a:solidFill>
              <a:srgbClr val="DDEAF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297680" y="1975104"/>
            <a:ext cx="45720" cy="62179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07408" y="1975104"/>
            <a:ext cx="3337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2-3 highest-pain doc types for pilot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297680" y="2688336"/>
            <a:ext cx="3474720" cy="621792"/>
          </a:xfrm>
          <a:prstGeom prst="rect">
            <a:avLst/>
          </a:prstGeom>
          <a:solidFill>
            <a:srgbClr val="F4F8FE"/>
          </a:solidFill>
          <a:ln w="6350">
            <a:solidFill>
              <a:srgbClr val="DDEAF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297680" y="2688336"/>
            <a:ext cx="45720" cy="62179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407408" y="2688336"/>
            <a:ext cx="3337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HC-Nodes calibrated on Banner denial patterns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297680" y="3401568"/>
            <a:ext cx="3474720" cy="621792"/>
          </a:xfrm>
          <a:prstGeom prst="rect">
            <a:avLst/>
          </a:prstGeom>
          <a:solidFill>
            <a:srgbClr val="F4F8FE"/>
          </a:solidFill>
          <a:ln w="6350">
            <a:solidFill>
              <a:srgbClr val="DDEAF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297680" y="3401568"/>
            <a:ext cx="45720" cy="62179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407408" y="3401568"/>
            <a:ext cx="3337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BNCA accuracy reviewed daily with clinical team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297680" y="4114800"/>
            <a:ext cx="3474720" cy="621792"/>
          </a:xfrm>
          <a:prstGeom prst="rect">
            <a:avLst/>
          </a:prstGeom>
          <a:solidFill>
            <a:srgbClr val="F4F8FE"/>
          </a:solidFill>
          <a:ln w="6350">
            <a:solidFill>
              <a:srgbClr val="DDEAF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297680" y="4114800"/>
            <a:ext cx="45720" cy="62179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407408" y="4114800"/>
            <a:ext cx="3337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loop with Main Strategist for Banner-specific rules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8001000" y="987552"/>
            <a:ext cx="3749040" cy="39776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AF5"/>
            </a:solidFill>
            <a:prstDash val="solid"/>
          </a:ln>
          <a:effectLst>
            <a:outerShdw sx="100000" sy="100000" kx="0" ky="0" algn="bl" rotWithShape="0" blurRad="101600" dist="25400" dir="8100000">
              <a:srgbClr val="0B1F3A">
                <a:alpha val="7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8001000" y="987552"/>
            <a:ext cx="3749040" cy="8229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138160" y="1033272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138160" y="128016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Deployment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138160" y="1581912"/>
            <a:ext cx="3520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9+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8138160" y="1975104"/>
            <a:ext cx="3474720" cy="621792"/>
          </a:xfrm>
          <a:prstGeom prst="rect">
            <a:avLst/>
          </a:prstGeom>
          <a:solidFill>
            <a:srgbClr val="F4F8FE"/>
          </a:solidFill>
          <a:ln w="6350">
            <a:solidFill>
              <a:srgbClr val="DDEAF5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138160" y="1975104"/>
            <a:ext cx="45720" cy="62179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247888" y="1975104"/>
            <a:ext cx="3337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8 document types live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8138160" y="2688336"/>
            <a:ext cx="3474720" cy="621792"/>
          </a:xfrm>
          <a:prstGeom prst="rect">
            <a:avLst/>
          </a:prstGeom>
          <a:solidFill>
            <a:srgbClr val="F4F8FE"/>
          </a:solidFill>
          <a:ln w="6350">
            <a:solidFill>
              <a:srgbClr val="DDEAF5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138160" y="2688336"/>
            <a:ext cx="45720" cy="62179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247888" y="2688336"/>
            <a:ext cx="3337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 queue integrated into Banner approval workflows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8138160" y="3401568"/>
            <a:ext cx="3474720" cy="621792"/>
          </a:xfrm>
          <a:prstGeom prst="rect">
            <a:avLst/>
          </a:prstGeom>
          <a:solidFill>
            <a:srgbClr val="F4F8FE"/>
          </a:solidFill>
          <a:ln w="6350">
            <a:solidFill>
              <a:srgbClr val="DDEAF5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138160" y="3401568"/>
            <a:ext cx="45720" cy="62179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247888" y="3401568"/>
            <a:ext cx="3337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dashboards for volume, accuracy, and ROI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8138160" y="4114800"/>
            <a:ext cx="3474720" cy="621792"/>
          </a:xfrm>
          <a:prstGeom prst="rect">
            <a:avLst/>
          </a:prstGeom>
          <a:solidFill>
            <a:srgbClr val="F4F8FE"/>
          </a:solidFill>
          <a:ln w="6350">
            <a:solidFill>
              <a:srgbClr val="DDEAF5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138160" y="4114800"/>
            <a:ext cx="45720" cy="62179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247888" y="4114800"/>
            <a:ext cx="3337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calibration reviews and model updates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320040" y="5074920"/>
            <a:ext cx="11475720" cy="457200"/>
          </a:xfrm>
          <a:prstGeom prst="rect">
            <a:avLst/>
          </a:prstGeom>
          <a:solidFill>
            <a:srgbClr val="EEF2F8"/>
          </a:solidFill>
          <a:ln w="12700">
            <a:solidFill>
              <a:srgbClr val="DDEAF5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57200" y="5074920"/>
            <a:ext cx="11228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Integrates with: Epic · Cerner · athenahealth · Change Healthcare · Availity · HL7 FHIR R4 compliant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320040" y="5623560"/>
            <a:ext cx="11475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HIPAA compliant · SOC 2 Type II · No patient data leaves Banner environment · On-prem or private cloud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320040" y="6080760"/>
            <a:ext cx="11475720" cy="53035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57200" y="6080760"/>
            <a:ext cx="1122883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Banner can be processing real documents through GHS Healthcare Command within 3 weeks of agreement.</a:t>
            </a:r>
            <a:endParaRPr lang="en-US" sz="1300" dirty="0"/>
          </a:p>
        </p:txBody>
      </p:sp>
      <p:sp>
        <p:nvSpPr>
          <p:cNvPr id="61" name="Text 59"/>
          <p:cNvSpPr/>
          <p:nvPr/>
        </p:nvSpPr>
        <p:spPr>
          <a:xfrm>
            <a:off x="11247120" y="653796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18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11521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Anticipated Questions — Prepared Answers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0040" y="694944"/>
            <a:ext cx="1152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ready for these. Every answer reinforces GHS value and Banner fit.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11475720" cy="749808"/>
          </a:xfrm>
          <a:prstGeom prst="rect">
            <a:avLst/>
          </a:prstGeom>
          <a:solidFill>
            <a:srgbClr val="FFFFFF">
              <a:alpha val="7000"/>
            </a:srgbClr>
          </a:solidFill>
          <a:ln w="635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97280"/>
            <a:ext cx="320040" cy="749808"/>
          </a:xfrm>
          <a:prstGeom prst="rect">
            <a:avLst/>
          </a:prstGeom>
          <a:solidFill>
            <a:srgbClr val="D97706">
              <a:alpha val="80000"/>
            </a:srgbClr>
          </a:solidFill>
          <a:ln w="12700">
            <a:solidFill>
              <a:srgbClr val="D97706">
                <a:alpha val="8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97280"/>
            <a:ext cx="320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7706"/>
                </a:solidFill>
              </a:rPr>
              <a:t>Q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49808" y="1143000"/>
            <a:ext cx="10927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GHS handle edge cases the nodes have not seen before?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49808" y="1444752"/>
            <a:ext cx="10927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AA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HC-Strategist routes low-confidence outputs to HITL Manager automatically. Unknown patterns trigger a learning flag for model calibration.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" y="1920240"/>
            <a:ext cx="11475720" cy="749808"/>
          </a:xfrm>
          <a:prstGeom prst="rect">
            <a:avLst/>
          </a:prstGeom>
          <a:solidFill>
            <a:srgbClr val="FFFFFF">
              <a:alpha val="7000"/>
            </a:srgbClr>
          </a:solidFill>
          <a:ln w="635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1920240"/>
            <a:ext cx="320040" cy="749808"/>
          </a:xfrm>
          <a:prstGeom prst="rect">
            <a:avLst/>
          </a:prstGeom>
          <a:solidFill>
            <a:srgbClr val="D97706">
              <a:alpha val="80000"/>
            </a:srgbClr>
          </a:solidFill>
          <a:ln w="12700">
            <a:solidFill>
              <a:srgbClr val="D97706">
                <a:alpha val="8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920240"/>
            <a:ext cx="320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7706"/>
                </a:solidFill>
              </a:rPr>
              <a:t>Q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49808" y="1965960"/>
            <a:ext cx="10927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if the AI is wrong?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49808" y="2267712"/>
            <a:ext cx="10927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AA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BNCA is reviewed by HITL Manager before any action is taken. AI recommends; Banner people decide. Full audit trail means errors are caught, not buried.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0040" y="2743200"/>
            <a:ext cx="11475720" cy="749808"/>
          </a:xfrm>
          <a:prstGeom prst="rect">
            <a:avLst/>
          </a:prstGeom>
          <a:solidFill>
            <a:srgbClr val="FFFFFF">
              <a:alpha val="7000"/>
            </a:srgbClr>
          </a:solidFill>
          <a:ln w="635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2743200"/>
            <a:ext cx="320040" cy="749808"/>
          </a:xfrm>
          <a:prstGeom prst="rect">
            <a:avLst/>
          </a:prstGeom>
          <a:solidFill>
            <a:srgbClr val="D97706">
              <a:alpha val="80000"/>
            </a:srgbClr>
          </a:solidFill>
          <a:ln w="12700">
            <a:solidFill>
              <a:srgbClr val="D97706">
                <a:alpha val="8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743200"/>
            <a:ext cx="320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7706"/>
                </a:solidFill>
              </a:rPr>
              <a:t>Q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49808" y="2788920"/>
            <a:ext cx="10927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this work with our existing Epic/Cerner workflows?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49808" y="3090672"/>
            <a:ext cx="10927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AA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GHS integrates via HL7 FHIR R4 API. Documents pulled from existing workflows, BNCA outputs pushed back into Epic task queue or your PA/UM system.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" y="3566160"/>
            <a:ext cx="11475720" cy="749808"/>
          </a:xfrm>
          <a:prstGeom prst="rect">
            <a:avLst/>
          </a:prstGeom>
          <a:solidFill>
            <a:srgbClr val="FFFFFF">
              <a:alpha val="7000"/>
            </a:srgbClr>
          </a:solidFill>
          <a:ln w="635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3566160"/>
            <a:ext cx="320040" cy="749808"/>
          </a:xfrm>
          <a:prstGeom prst="rect">
            <a:avLst/>
          </a:prstGeom>
          <a:solidFill>
            <a:srgbClr val="D97706">
              <a:alpha val="80000"/>
            </a:srgbClr>
          </a:solidFill>
          <a:ln w="12700">
            <a:solidFill>
              <a:srgbClr val="D97706">
                <a:alpha val="8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3566160"/>
            <a:ext cx="320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7706"/>
                </a:solidFill>
              </a:rPr>
              <a:t>Q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49808" y="3611880"/>
            <a:ext cx="10927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patient data leaving Banner systems?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49808" y="3913632"/>
            <a:ext cx="10927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AA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No. GHS deploys on Banner private cloud or on-prem. HIPAA compliant, SOC 2 Type II certified, zero data exfiltration by design.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0040" y="4389120"/>
            <a:ext cx="11475720" cy="749808"/>
          </a:xfrm>
          <a:prstGeom prst="rect">
            <a:avLst/>
          </a:prstGeom>
          <a:solidFill>
            <a:srgbClr val="FFFFFF">
              <a:alpha val="7000"/>
            </a:srgbClr>
          </a:solidFill>
          <a:ln w="635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" y="4389120"/>
            <a:ext cx="320040" cy="749808"/>
          </a:xfrm>
          <a:prstGeom prst="rect">
            <a:avLst/>
          </a:prstGeom>
          <a:solidFill>
            <a:srgbClr val="D97706">
              <a:alpha val="80000"/>
            </a:srgbClr>
          </a:solidFill>
          <a:ln w="12700">
            <a:solidFill>
              <a:srgbClr val="D97706">
                <a:alpha val="8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4389120"/>
            <a:ext cx="320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7706"/>
                </a:solidFill>
              </a:rPr>
              <a:t>Q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49808" y="4434840"/>
            <a:ext cx="10927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you validate accuracy before going live?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49808" y="4736592"/>
            <a:ext cx="10927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AA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is a calibration period — BNCA outputs reviewed daily against Banner actual decisions. We hit &gt;92% agreement before expanding.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20040" y="5212080"/>
            <a:ext cx="11475720" cy="749808"/>
          </a:xfrm>
          <a:prstGeom prst="rect">
            <a:avLst/>
          </a:prstGeom>
          <a:solidFill>
            <a:srgbClr val="FFFFFF">
              <a:alpha val="7000"/>
            </a:srgbClr>
          </a:solidFill>
          <a:ln w="635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0040" y="5212080"/>
            <a:ext cx="320040" cy="749808"/>
          </a:xfrm>
          <a:prstGeom prst="rect">
            <a:avLst/>
          </a:prstGeom>
          <a:solidFill>
            <a:srgbClr val="D97706">
              <a:alpha val="80000"/>
            </a:srgbClr>
          </a:solidFill>
          <a:ln w="12700">
            <a:solidFill>
              <a:srgbClr val="D97706">
                <a:alpha val="8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0040" y="5212080"/>
            <a:ext cx="320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7706"/>
                </a:solidFill>
              </a:rPr>
              <a:t>Q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49808" y="5257800"/>
            <a:ext cx="10927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it cost and what is the ROI model?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49808" y="5559552"/>
            <a:ext cx="10927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AA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is per document volume. At Banner scale, recovered denials alone typically return 4-8x the annual contract value in year one.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11247120" y="653796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18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411480"/>
            <a:ext cx="1463040" cy="5029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4114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103120" y="50292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Command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1188720"/>
            <a:ext cx="8686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next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502920" y="1737360"/>
            <a:ext cx="8686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up to Banner.</a:t>
            </a:r>
            <a:endParaRPr lang="en-US" sz="4200" dirty="0"/>
          </a:p>
        </p:txBody>
      </p:sp>
      <p:sp>
        <p:nvSpPr>
          <p:cNvPr id="8" name="Shape 6"/>
          <p:cNvSpPr/>
          <p:nvPr/>
        </p:nvSpPr>
        <p:spPr>
          <a:xfrm>
            <a:off x="502920" y="2615184"/>
            <a:ext cx="384048" cy="38404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61518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257860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discovery call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05840" y="2944368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GHS intake to Banner document workflows — 1 hour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3392424"/>
            <a:ext cx="384048" cy="38404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39242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05840" y="335584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2 pilot doc types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05840" y="3721608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highest-pain types for Phase 2 calibration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4169664"/>
            <a:ext cx="384048" cy="38404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416966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05840" y="413308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pilot agreement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05840" y="4498848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3-week onboarding, no long-term commitment required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" y="4946904"/>
            <a:ext cx="384048" cy="38404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494690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05840" y="491032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live — see results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05840" y="5276088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Banner documents, real BNCA outputs, real ROI data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412480" y="1188720"/>
            <a:ext cx="3566160" cy="4206240"/>
          </a:xfrm>
          <a:prstGeom prst="rect">
            <a:avLst/>
          </a:prstGeom>
          <a:solidFill>
            <a:srgbClr val="FFFFFF"/>
          </a:solidFill>
          <a:ln w="9525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25400" dir="8100000">
              <a:srgbClr val="0B1F3A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412480" y="1188720"/>
            <a:ext cx="3566160" cy="5029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49640" y="1243584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start?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549640" y="182880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966960" y="1828800"/>
            <a:ext cx="19019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Command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549640" y="233172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timeline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9966960" y="2331720"/>
            <a:ext cx="19019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weeks to first live doc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549640" y="283464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9966960" y="2834640"/>
            <a:ext cx="19019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Pilot-first, no lock-in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549640" y="333756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9966960" y="3337560"/>
            <a:ext cx="19019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HIPAA · SOC 2 Type II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549640" y="384048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9966960" y="3840480"/>
            <a:ext cx="19019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HL7 FHIR R4 ready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549640" y="434340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9966960" y="4343400"/>
            <a:ext cx="19019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tsm-shell.fly.dev/html/ghs/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02920" y="635508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GHS Healthcare Command. Every document enters. Every action is accountable.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1247120" y="653796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18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2026-04-27T00:22:28Z</dcterms:created>
  <dcterms:modified xsi:type="dcterms:W3CDTF">2026-04-27T00:22:28Z</dcterms:modified>
</cp:coreProperties>
</file>