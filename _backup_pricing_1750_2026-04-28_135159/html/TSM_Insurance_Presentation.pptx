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2926080"/>
          </a:xfrm>
          <a:prstGeom prst="rect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48840" y="612648"/>
            <a:ext cx="237744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612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Intelligence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TSM Insurance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Suite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Tools for Every Line of Business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· ACA · P&amp;C · Life · DME · Compliance · Agent Intelligence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60s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461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to BNCA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893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TSMatter · NPN 18818059 · Licensed AZ Producer · AI Intelligence for Insurance Professionals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Insurance Gap — What AI Solves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agencies, and carriers are leaving revenue, compliance, and clients on the table every day.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37160"/>
            <a:ext cx="3017520" cy="59436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137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$17B lost annually to insurance admin inefficiency (ACLI)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87552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 Auth &amp; Enrollment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eligibility checks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plan comparisons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enrollment windows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87552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75888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&amp; DME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Part B benefits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benefit check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 wasted on lookup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25896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987552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28816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 Denials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63056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appeal rates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missed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codes misrouted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78824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78824" y="987552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15984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📑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81744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Audits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15984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regs change constantly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rule gaps undetected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E&amp;O exposure from misadvice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487168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P&amp;C Operations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cycle too slow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appetite mismatches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leakage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72968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2487168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75888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Productivity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on carrier portals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market intel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 ramp time: 6+ months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25896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25896" y="2487168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28816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Agency Management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63056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cross-sell visibility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retention reactive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analysis manual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878824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878824" y="2487168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15984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381744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Carrier Intelligence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15984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blind spots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gaps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risk scoring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Insurance Intelligence addresses all 8 problem areas simultaneously — with AI nodes built for insurance workflows.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TSM Insurance Intelligence Suite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AI-powered apps. Every line of business. One intelligence layer.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212848" cy="495604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2212848" cy="658368"/>
          </a:xfrm>
          <a:prstGeom prst="rect">
            <a:avLst/>
          </a:prstGeom>
          <a:solidFill>
            <a:srgbClr val="2A9D8F">
              <a:alpha val="88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2471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  AZ Insurance Command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Full-spectrum insurance operations 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883664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83664"/>
            <a:ext cx="36576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· ACA · Life · P&amp;C tabs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14016"/>
            <a:ext cx="36576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compliance monitoring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944368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944368"/>
            <a:ext cx="36576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appetite matrix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474720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474720"/>
            <a:ext cx="36576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BNCA-powered recommendations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51760" y="1078992"/>
            <a:ext cx="2212848" cy="495604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1078992"/>
            <a:ext cx="2212848" cy="658368"/>
          </a:xfrm>
          <a:prstGeom prst="rect">
            <a:avLst/>
          </a:prstGeom>
          <a:solidFill>
            <a:srgbClr val="C9A84C">
              <a:alpha val="8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12471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💊  DME Benefits 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14630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Part B benefit maximizer for agents and clients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0" y="1883664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1883664"/>
            <a:ext cx="3657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DME categories auto-checked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0" y="2414016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2414016"/>
            <a:ext cx="3657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verification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2944368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2944368"/>
            <a:ext cx="3657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benefit guide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0" y="3474720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3474720"/>
            <a:ext cx="3657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built 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83480" y="1078992"/>
            <a:ext cx="2212848" cy="495604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1078992"/>
            <a:ext cx="2212848" cy="658368"/>
          </a:xfrm>
          <a:prstGeom prst="rect">
            <a:avLst/>
          </a:prstGeom>
          <a:solidFill>
            <a:srgbClr val="34D399">
              <a:alpha val="8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112471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Agents Intelligence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14630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for agents, agencies, and carriers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74920" y="1883664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74920" y="1883664"/>
            <a:ext cx="36576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 intelligence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74920" y="2414016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74920" y="2414016"/>
            <a:ext cx="36576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rule library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74920" y="2944368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74920" y="2944368"/>
            <a:ext cx="36576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opportunity engine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74920" y="3474720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3474720"/>
            <a:ext cx="36576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6636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compliance AI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315200" y="1078992"/>
            <a:ext cx="2212848" cy="495604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1078992"/>
            <a:ext cx="2212848" cy="658368"/>
          </a:xfrm>
          <a:prstGeom prst="rect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112471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P&amp;C Enterprise Command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06640" y="14630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casualty operations command center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406640" y="1883664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06640" y="1883664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0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pipeline management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406640" y="2414016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06640" y="2414016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analytics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406640" y="2944368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06640" y="2944368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9808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gap detection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406640" y="3474720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06640" y="3474720"/>
            <a:ext cx="36576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9808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risk scoring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646920" y="1078992"/>
            <a:ext cx="2212848" cy="495604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46920" y="1078992"/>
            <a:ext cx="2212848" cy="658368"/>
          </a:xfrm>
          <a:prstGeom prst="rect">
            <a:avLst/>
          </a:prstGeom>
          <a:solidFill>
            <a:srgbClr val="4A6A8A">
              <a:alpha val="88000"/>
            </a:srgbClr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1124712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TSM Pricing Engine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738360" y="14630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value-based pricing for every client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738360" y="1883664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38360" y="1883664"/>
            <a:ext cx="36576" cy="4572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29800" y="18836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or volume pricing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9738360" y="2414016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738360" y="2414016"/>
            <a:ext cx="36576" cy="4572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2980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 built in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9738360" y="2944368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738360" y="2944368"/>
            <a:ext cx="36576" cy="4572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29800" y="2944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comparison view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738360" y="3474720"/>
            <a:ext cx="2029968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38360" y="3474720"/>
            <a:ext cx="36576" cy="4572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82980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enterprise quotes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320040" y="623620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apps share the same BNCA intelligence layer — every recommendation is auditable, human-reviewed, and actionable.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TSM Insurance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client question to HITL-approved action — every step tracked, every decision logged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057400" cy="2286000"/>
          </a:xfrm>
          <a:prstGeom prst="rect">
            <a:avLst/>
          </a:prstGeom>
          <a:solidFill>
            <a:srgbClr val="4A6A8A">
              <a:alpha val="90000"/>
            </a:srgbClr>
          </a:solidFill>
          <a:ln w="12700">
            <a:solidFill>
              <a:srgbClr val="4A6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6132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6132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Query Intake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line · Any doc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41448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12264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78608" y="1143000"/>
            <a:ext cx="2057400" cy="2286000"/>
          </a:xfrm>
          <a:prstGeom prst="rect">
            <a:avLst/>
          </a:prstGeom>
          <a:solidFill>
            <a:srgbClr val="2A9D8F">
              <a:alpha val="90000"/>
            </a:srgbClr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7268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7268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70048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Nodes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(4 Parallel)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Coverage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·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2584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9744" y="1143000"/>
            <a:ext cx="2057400" cy="2286000"/>
          </a:xfrm>
          <a:prstGeom prst="rect">
            <a:avLst/>
          </a:prstGeom>
          <a:solidFill>
            <a:srgbClr val="C9A84C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18404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8404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01184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01184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nodes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BNCA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74536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0" y="1143000"/>
            <a:ext cx="2057400" cy="2286000"/>
          </a:xfrm>
          <a:prstGeom prst="rect">
            <a:avLst/>
          </a:prstGeom>
          <a:solidFill>
            <a:srgbClr val="334155">
              <a:alpha val="90000"/>
            </a:srgbClr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49540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9540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· Escalation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routing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34856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05672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05672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72016" y="1143000"/>
            <a:ext cx="2057400" cy="228600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980676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80676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363456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HITL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63456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036808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036808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7472" y="3675888"/>
            <a:ext cx="11475720" cy="1417320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3675888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749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BNCA OUTPUT — Best Next Course of Action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41148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Node → state reg gaps, CMS rules, E&amp;O exposure flagged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44165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Node → plan-to-need match, gaps identified, alternatives ranked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7183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Claims Node → denial probability, appeal path, deadline tracked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41148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Node → carrier appetite match, loss ratio exposure, escalation path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63640" y="44165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Insurance Strategist → synthesizes all 4 nodes into single BNCA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47183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 Strategist → assigns urgency, routes to agent, compliance, or HITL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7472" y="5230368"/>
            <a:ext cx="11475720" cy="475488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5230368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HITL Manager — Reviews BNCA, approves or modifies action, full audit trail. Every decision accountable.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47472" y="5833872"/>
            <a:ext cx="11475720" cy="38404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5833872"/>
            <a:ext cx="11475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time: under 60 seconds · Zero manual carrier lookup · 100% audit trail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Insurance AI Nodes — 4 Parallel Analyzers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and document processed simultaneously across all four nodes.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2788920" cy="4434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51560"/>
            <a:ext cx="2788920" cy="713232"/>
          </a:xfrm>
          <a:prstGeom prst="rect">
            <a:avLst/>
          </a:prstGeom>
          <a:solidFill>
            <a:srgbClr val="2A9D8F">
              <a:alpha val="95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247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10881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Node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14173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state, federal, and CMS requirements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892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catches: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2148840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2148840"/>
            <a:ext cx="45720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48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State-specific insurance regs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660904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2660904"/>
            <a:ext cx="45720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60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Medicare/Medicaid rules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" y="3172968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3172968"/>
            <a:ext cx="45720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729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E&amp;O exposure flags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3685032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3685032"/>
            <a:ext cx="45720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850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disclosures missing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" y="4389120"/>
            <a:ext cx="2606040" cy="987552"/>
          </a:xfrm>
          <a:prstGeom prst="rect">
            <a:avLst/>
          </a:prstGeom>
          <a:solidFill>
            <a:srgbClr val="2A9D8F">
              <a:alpha val="18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44531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" y="4654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quote: IOEP window closed. SEP eligibility check required before enrollment.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27832" y="1051560"/>
            <a:ext cx="2788920" cy="4434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27832" y="1051560"/>
            <a:ext cx="2788920" cy="713232"/>
          </a:xfrm>
          <a:prstGeom prst="rect">
            <a:avLst/>
          </a:prstGeom>
          <a:solidFill>
            <a:srgbClr val="C9A84C">
              <a:alpha val="9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11247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58184" y="10881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Node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58184" y="14173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plan-to-need match and gaps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64992" y="1892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catches: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64992" y="2148840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64992" y="2148840"/>
            <a:ext cx="4572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148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gaps vs client needs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64992" y="2660904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64992" y="2660904"/>
            <a:ext cx="4572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660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network adequacy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64992" y="3172968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64992" y="3172968"/>
            <a:ext cx="4572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31729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Formulary coverage gaps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64992" y="3685032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64992" y="3685032"/>
            <a:ext cx="4572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6850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Underinsurance red flags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19272" y="4389120"/>
            <a:ext cx="2606040" cy="987552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92424" y="44531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92424" y="4654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P&amp;C: Commercial GL policy has liquor liability exclusion. Client runs a restaurant. Critical gap.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08192" y="1051560"/>
            <a:ext cx="2788920" cy="4434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08192" y="1051560"/>
            <a:ext cx="2788920" cy="713232"/>
          </a:xfrm>
          <a:prstGeom prst="rect">
            <a:avLst/>
          </a:prstGeom>
          <a:solidFill>
            <a:srgbClr val="EF4444">
              <a:alpha val="9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9632" y="11247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638544" y="10881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Node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638544" y="14173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denial risk and appeal opportunities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45352" y="1892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catches: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45352" y="2148840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45352" y="2148840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2148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probability scoring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45352" y="2660904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45352" y="2660904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2660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deadline tracking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45352" y="3172968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45352" y="3172968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31729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of benefits issues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45352" y="3685032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45352" y="3685032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36850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documentation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199632" y="4389120"/>
            <a:ext cx="2606040" cy="987552"/>
          </a:xfrm>
          <a:prstGeom prst="rect">
            <a:avLst/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72784" y="44531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72784" y="4654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 claim: CPAP prior auth missing. Supplier submitted without RX. Appeal window: 12 days.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988552" y="1051560"/>
            <a:ext cx="2788920" cy="4434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88552" y="1051560"/>
            <a:ext cx="2788920" cy="713232"/>
          </a:xfrm>
          <a:prstGeom prst="rect">
            <a:avLst/>
          </a:prstGeom>
          <a:solidFill>
            <a:srgbClr val="F59E0B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79992" y="11247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9518904" y="10881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Node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9518904" y="14173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exposure and revenue risk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125712" y="1892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catches: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125712" y="2148840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25712" y="2148840"/>
            <a:ext cx="45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35440" y="2148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appetite mismatches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125712" y="2660904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125712" y="2660904"/>
            <a:ext cx="45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235440" y="2660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exposure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125712" y="3172968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25712" y="3172968"/>
            <a:ext cx="45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235440" y="31729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risk scoring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25712" y="3685032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25712" y="3685032"/>
            <a:ext cx="45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35440" y="36850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adequacy gaps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079992" y="4389120"/>
            <a:ext cx="2606040" cy="987552"/>
          </a:xfrm>
          <a:prstGeom prst="rect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153144" y="44531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153144" y="4654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auto: 3 drivers with MVRs not disclosed. Carrier will non-renew at next cycle.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347472" y="5669280"/>
            <a:ext cx="11475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nodes report simultaneously to the Insurance Strategist — who synthesizes findings into a single BNCA.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Strategist &amp; Main Strategist — The Decision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layers that transform node findings into prioritized, human-ready recommendations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5349240" cy="4983480"/>
          </a:xfrm>
          <a:prstGeom prst="rect">
            <a:avLst/>
          </a:prstGeom>
          <a:solidFill>
            <a:srgbClr val="F8F5E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5349240" cy="594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Insurance Strategist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" y="169164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7335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Receives all 4 node 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938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Coverage, Claims, and Risk outputs arrive simultaneously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46888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4505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Resolves conflicts between nodes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70662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nodes disagree, Insurance Strategist adjudicates on line-of-business rules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24612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2278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Generates the BNCA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48386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Next Course of Action — single, specific, carrier-ready recommendation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402336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0050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Assigns confidence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611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Low/Medium/High confidence routes to different HITL escalation paths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480060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7823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Tags for routing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03834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for agent action, carrier submission, compliance review, or HITL queue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79008" y="312724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99632" y="960120"/>
            <a:ext cx="5376672" cy="4983480"/>
          </a:xfrm>
          <a:prstGeom prst="rect">
            <a:avLst/>
          </a:prstGeom>
          <a:solidFill>
            <a:srgbClr val="F0F4F8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960120"/>
            <a:ext cx="5376672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005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Main Strategist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27648" y="169164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0840" y="167335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Receives BNCA from Insurance Strategist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192938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confidence score and routing tag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27648" y="246888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245059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Cross-account pattern recognition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270662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systemic issues across book of business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324612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322783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tier assignment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20840" y="348386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Urgent · P2 Revenue Critical · P3 Standard · P4 Info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27648" y="402336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400507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Escalation path determination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20840" y="426110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agent, carrier, compliance officer, or HITL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27648" y="4800600"/>
            <a:ext cx="292608" cy="29260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20840" y="478231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 to HITL Manager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20840" y="503834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BNCA + findings + priority for human sign-off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" y="6035040"/>
            <a:ext cx="11228832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6035040"/>
            <a:ext cx="11228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Strategist delivers to HITL Manager: full audit package ready for agent review and approval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HITL Manager — Human-in-the-Loop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recommends. Licensed agents decide. Every action is compliant and accountable.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394960" cy="50292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HITL Manager receives: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691640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916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664208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document or client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139696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396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2112264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AI Node findings — individually labeled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587752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5877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560320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Strategist BNCA with confidence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035808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358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3008376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Strategist priority tier (P1-P4)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483864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4838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456432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and carrier routing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" y="3931920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31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3904488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flag if compliance or E&amp;O risk detected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" y="4379976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799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" y="4352544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time-stamped audit trail from intake to 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91072" y="1078992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1078992"/>
            <a:ext cx="5394960" cy="502920"/>
          </a:xfrm>
          <a:prstGeom prst="rect">
            <a:avLst/>
          </a:prstGeom>
          <a:solidFill>
            <a:srgbClr val="2A9D8F">
              <a:alpha val="9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1247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HITL Manager can do: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82512" y="1719072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171907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Approve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26680" y="1719072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BNCA and trigger agent or carrier action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82512" y="2249424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24942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Modify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26680" y="2249424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BNCA before approval — reason logged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82512" y="2779776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2779776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↩ Return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26680" y="2779776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to Insurance Strategist with context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82512" y="3310128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5664" y="331012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⬆ Escalate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26680" y="3310128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to compliance officer or E&amp;O carrier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82512" y="3840480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384048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Flag urgent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26680" y="3840480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to P1 — same-day resolution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82512" y="4370832"/>
            <a:ext cx="5193792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55664" y="437083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 Archive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26680" y="4370832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resolved, saved to client record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7472" y="5349240"/>
            <a:ext cx="11338560" cy="118872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5486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HITL is non-negotiable in insurance: State licensing requires human agent sign-off · E&amp;O liability stays with the licensee · Edge cases handled by experienced agents · Every TSM action is auditable and defensible.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— Insurance Suite Walkthrough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apps · Click any scenario · Watch pipeline · Read the BNCA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11556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AZ Insurance Command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at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tsm-shell.fly.dev/html/az-ins/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tabs live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1104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8264" y="111556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9472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98264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 Medicare Scenario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98264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Medicare tab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client profile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compliance node fire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74736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111556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33104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11896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to DME Benefits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11896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tsm-shell.fly.dev/html/dme/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benefit guide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coverage shown instantly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" y="349300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4632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Agents Intelligence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tsm-shell.fly.dev/html/agents-ins/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agent workflows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engine live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61104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98264" y="349300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98264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9472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398264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P&amp;C Enterprise Command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98264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tsm-shell.fly.dev/html/pc-command/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lines dashboard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ticker + risk scoring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74736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11896" y="3493008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11896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33104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311896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Pricing Page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11896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tsm-shell.fly.dev/html/pricing1.html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comparison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7472" y="5715000"/>
            <a:ext cx="11475720" cy="932688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80644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Demo Tip: Start with the Medicare compliance scenario — show a HOLD result first, then a clean approval. The contrast between a compliance flag and a clean BNCA lands the value instantly.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  AZ Insurance Command — Full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insurance command center. Every tab is a live AI node. NPN 18818059 licensed AZ producer.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8892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💊  Medicare Tab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62763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276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Medicare Advantage plan comparison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17627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1762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 D formulary checker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72491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7249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IOEP/SEP eligibility validator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27355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27355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enroll, hold, or SEP-route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27832" y="1024128"/>
            <a:ext cx="27889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024128"/>
            <a:ext cx="2788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ACA Tab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62763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6276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Income-based subsidy calculator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217627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1762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Metal tier optimizer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272491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7249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adequacy checker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27355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27355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optimal plan + enrollment path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35624" y="1024128"/>
            <a:ext cx="27889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35624" y="1024128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 Compliance Tab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45352" y="162763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16276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reg violation scanner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45352" y="217627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21762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 rule change tracker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45352" y="272491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27249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E&amp;O exposure flags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45352" y="327355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327355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remediation steps with deadlines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43416" y="1024128"/>
            <a:ext cx="27889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043416" y="1024128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53144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Carrier Intel Tab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153144" y="162763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44584" y="162763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Carrier appetite matrix by zip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153144" y="217627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44584" y="217627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Underwriting rule library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153144" y="272491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44584" y="272491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ratio trend by carrier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53144" y="3273552"/>
            <a:ext cx="2578608" cy="47548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44584" y="327355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best carrier match for risk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" y="5138928"/>
            <a:ext cx="11475720" cy="621792"/>
          </a:xfrm>
          <a:prstGeom prst="rect">
            <a:avLst/>
          </a:prstGeom>
          <a:solidFill>
            <a:srgbClr val="E8F8F5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521208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Insurance Command unifies every line of business into one dashboard — no more portal-hopping between carriers.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0040" y="5870448"/>
            <a:ext cx="1147572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587044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tsm-shell.fly.dev/html/az-ins/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💊  Medicare DME Benefits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Medicare beneficiaries leave thousands in Part B benefits unclaimed. This tool fixes that — for agents and clients.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8892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CPAP &amp; Sleep Equipment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$1,500–$3,000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2029968"/>
            <a:ext cx="1828800" cy="256032"/>
          </a:xfrm>
          <a:prstGeom prst="rect">
            <a:avLst/>
          </a:prstGeom>
          <a:solidFill>
            <a:srgbClr val="2A9D8F">
              <a:alpha val="7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37744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covers CPAP machines, masks, and supplies with AHI diagnosis. Agents can identify candidates from current book.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1024128"/>
            <a:ext cx="2788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024128"/>
            <a:ext cx="2788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CGM &amp; Diabetes Supplies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45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$2,000–$4,000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37560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GROWING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2029968"/>
            <a:ext cx="1828800" cy="256032"/>
          </a:xfrm>
          <a:prstGeom prst="rect">
            <a:avLst/>
          </a:prstGeom>
          <a:solidFill>
            <a:srgbClr val="10B981">
              <a:alpha val="7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37744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glucose monitors now covered under Part B. Major benefit gap most agents miss on new Medicare clients.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35624" y="1024128"/>
            <a:ext cx="2788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35624" y="1024128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Wheelchairs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45352" y="1645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$3,000–$6,000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45352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45352" y="2029968"/>
            <a:ext cx="1828800" cy="256032"/>
          </a:xfrm>
          <a:prstGeom prst="rect">
            <a:avLst/>
          </a:prstGeom>
          <a:solidFill>
            <a:srgbClr val="7C3AED">
              <a:alpha val="7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37744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power wheelchair coverage with home mobility assessment. Agent identifies need, triggers referral workflow.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43416" y="1024128"/>
            <a:ext cx="2788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43416" y="1024128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53144" y="10698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Oxygen Concentrators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3144" y="1645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$2,500–$5,000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153144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53144" y="2029968"/>
            <a:ext cx="1828800" cy="256032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3144" y="237744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oxygen rental covered indefinitely for qualifying diagnoses. Creates long-term client stickiness and referrals.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370832"/>
            <a:ext cx="11475720" cy="621792"/>
          </a:xfrm>
          <a:prstGeom prst="rect">
            <a:avLst/>
          </a:prstGeom>
          <a:solidFill>
            <a:srgbClr val="FFFBEB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443984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use case: Run DME check on every Medicare client annually. Average unclaimed benefit per client: $2,400. Becomes a referral machine.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5102352"/>
            <a:ext cx="1147572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10235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tsm-shell.fly.dev/html/dme/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Agents Intelligence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insurance professionals — agents, agencies, and carriers. Every line, every question, in real time.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70332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Independent Agents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carrier rule lookup — no more portal-hopping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Cross-sell opportunity scanner across book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Medicare, ACA, Life, P&amp;C in one AI interface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conversation scripts powered by BNCA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1024128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1024128"/>
            <a:ext cx="37033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Agencies &amp; IMOs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7024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onboarding AI — 6-month ramp cut to weeks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024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tracking with BNCA coaching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024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monitoring across all licensed agents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024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6168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 analysis: retention risk and growth gaps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1024128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01000" y="1024128"/>
            <a:ext cx="37033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Carriers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1072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 intelligence — which agents sell what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1072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0216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appetite matching at point of sale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072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education and rule change notifications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1072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0216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ratio early warning by agent segment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5376672"/>
            <a:ext cx="11475720" cy="621792"/>
          </a:xfrm>
          <a:prstGeom prst="rect">
            <a:avLst/>
          </a:prstGeom>
          <a:solidFill>
            <a:srgbClr val="ECFDF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449824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agents using TSM Intelligence hit production benchmarks 3x faster. Senior agents add 18-25% to annual revenue from cross-sell AI.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6108192"/>
            <a:ext cx="1147572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10819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tsm-shell.fly.dev/html/agents-ins/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P&amp;C Enterprise Command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casualty operations command center. Commercial and personal lines. Live ticker, risk scoring, renewal intelligence.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7033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7033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GL, BOP, Workers Comp, Auto in one view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Carrier appetite match by NAICS code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underwriting info flagged before submission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submit, hold, or re-quote with alternate carrier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1024128"/>
            <a:ext cx="37033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1024128"/>
            <a:ext cx="3703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Intelligence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7024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ratio by policy, account, and segment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024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 claim history pattern detection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024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Adverse MVR and CLUE report alerts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024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6168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renew, non-renew, or reunderwrite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1024128"/>
            <a:ext cx="37033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01000" y="1024128"/>
            <a:ext cx="370332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10698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Renewal Engine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10728" y="1627632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162763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90-day renewal pipeline with risk scoring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10728" y="2286000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02168" y="228600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adequacy gap detection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0728" y="2944368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2944368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Retention risk ranked by account value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10728" y="3602736"/>
            <a:ext cx="3493008" cy="566928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02168" y="360273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BNCA: retain, rerate, or market account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5138928"/>
            <a:ext cx="11475720" cy="621792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21208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P&amp;C agencies using enterprise command reduce renewal leakage by 22% and cut quote-to-bind time from days to hours.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870448"/>
            <a:ext cx="11475720" cy="3474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87044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tsm-shell.fly.dev/html/pc-command/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Narrative — What the Audience Sees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script during the live demo.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94360" cy="438912"/>
          </a:xfrm>
          <a:prstGeom prst="rect">
            <a:avLst/>
          </a:prstGeom>
          <a:solidFill>
            <a:srgbClr val="4A6A8A">
              <a:alpha val="80000"/>
            </a:srgbClr>
          </a:solidFill>
          <a:ln w="12700">
            <a:solidFill>
              <a:srgbClr val="4A6A8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1338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AZ Insurance Command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9000" y="11338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TSM Insurance Intelligence. Every line of business your agency writes is already loaded.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4A6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91056"/>
            <a:ext cx="594360" cy="438912"/>
          </a:xfrm>
          <a:prstGeom prst="rect">
            <a:avLst/>
          </a:prstGeom>
          <a:solidFill>
            <a:srgbClr val="4A6A8A">
              <a:alpha val="80000"/>
            </a:srgbClr>
          </a:solidFill>
          <a:ln w="12700">
            <a:solidFill>
              <a:srgbClr val="4A6A8A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91056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1627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Medicare tab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1627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a Medicare client inquiry looks like when it hits your queue. Let us run 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84832"/>
            <a:ext cx="594360" cy="438912"/>
          </a:xfrm>
          <a:prstGeom prst="rect">
            <a:avLst/>
          </a:prstGeom>
          <a:solidFill>
            <a:srgbClr val="2A9D8F">
              <a:alpha val="80000"/>
            </a:srgbClr>
          </a:solidFill>
          <a:ln w="12700">
            <a:solidFill>
              <a:srgbClr val="2A9D8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8483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121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 client profile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2121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nodes — Compliance, Coverage, Claims, Risk — all firing simultaneously.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78608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78608"/>
            <a:ext cx="594360" cy="43891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78608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6151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BNCA: HOLD — SEP issue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26151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window closed. This would have been a CMS violation. Your E&amp;O carrier would not be happy.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72384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072384"/>
            <a:ext cx="594360" cy="438912"/>
          </a:xfrm>
          <a:prstGeom prst="rect">
            <a:avLst/>
          </a:prstGeom>
          <a:solidFill>
            <a:srgbClr val="2A9D8F">
              <a:alpha val="80000"/>
            </a:srgbClr>
          </a:solidFill>
          <a:ln w="12700">
            <a:solidFill>
              <a:srgbClr val="2A9D8F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72384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to clean scenario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90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client — qualifying SEP event documented. Same workflow, same button.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566160"/>
            <a:ext cx="594360" cy="43891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66160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36027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BNCA: APPROVE &amp; ENROLL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29000" y="36027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selected. Enrollment path confirmed. No compliance flag. No carrier callback.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059936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059936"/>
            <a:ext cx="594360" cy="438912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059936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5840" y="40965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DME Benefits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29000" y="4096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watch what this does for your existing Medicare book. Every client is leaving money on the table.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553712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553712"/>
            <a:ext cx="594360" cy="43891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55371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" y="4590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CPAP benefit check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42900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qualifies for $2,400 in Part B equipment. Did you know that? Did they?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047488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5047488"/>
            <a:ext cx="594360" cy="438912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5047488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50840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429000" y="50840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referral, a retention tool, and a value-add conversation — in 45 seconds.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5541264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5541264"/>
            <a:ext cx="594360" cy="43891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5541264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0584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P&amp;C Command — renewal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42900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account. Three drivers not disclosed. Carrier would non-renew. We caught it at 90 days.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Feature Guide — Exact URLs &amp;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during the demo to navigate TSM Insurance Intelligence confidently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57784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57784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9669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 Insurance Command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38074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tsm-shell.fly.dev/html/az-ins/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636776"/>
            <a:ext cx="1417320" cy="438912"/>
          </a:xfrm>
          <a:prstGeom prst="rect">
            <a:avLst/>
          </a:prstGeom>
          <a:solidFill>
            <a:srgbClr val="2A9D8F">
              <a:alpha val="18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3677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 Navigation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47672" y="163677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· ACA · P&amp;C · Life · Compliance — each tab is a live AI node. Click to activate.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2185416"/>
            <a:ext cx="1417320" cy="438912"/>
          </a:xfrm>
          <a:prstGeom prst="rect">
            <a:avLst/>
          </a:prstGeom>
          <a:solidFill>
            <a:srgbClr val="2A9D8F">
              <a:alpha val="18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8541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button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47672" y="218541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 BNCA pipeline on current query. Active once profile or document entered.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2734056"/>
            <a:ext cx="1417320" cy="438912"/>
          </a:xfrm>
          <a:prstGeom prst="rect">
            <a:avLst/>
          </a:prstGeom>
          <a:solidFill>
            <a:srgbClr val="2A9D8F">
              <a:alpha val="18000"/>
            </a:srgbClr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340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Carrier Intel tab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47672" y="273405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live carrier appetite matrix. Filter by line, zip, and risk type.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960120"/>
            <a:ext cx="557784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960120"/>
            <a:ext cx="557784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99669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 Benefits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138074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tsm-shell.fly.dev/html/dme/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44768" y="1636776"/>
            <a:ext cx="1417320" cy="438912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63677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 Category Cards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62672" y="163677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of 8 DME types — CPAP, CGM, wheelchair, oxygen, etc. Shows benefit amount instantly.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4768" y="2185416"/>
            <a:ext cx="1417320" cy="438912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18541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Eligibility CTA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62672" y="218541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Medicare Part B eligibility check against client profile.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2734056"/>
            <a:ext cx="1417320" cy="438912"/>
          </a:xfrm>
          <a:prstGeom prst="rect">
            <a:avLst/>
          </a:prstGeom>
          <a:solidFill>
            <a:srgbClr val="C9A84C">
              <a:alpha val="18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7340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grid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62672" y="273405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process: check, qualify, refer. Client-facing explainer for use in appointments.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657600"/>
            <a:ext cx="557784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57600"/>
            <a:ext cx="557784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69417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Intelligence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9768" y="407822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tsm-shell.fly.dev/html/agents-ins/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768" y="4334256"/>
            <a:ext cx="1417320" cy="438912"/>
          </a:xfrm>
          <a:prstGeom prst="rect">
            <a:avLst/>
          </a:prstGeom>
          <a:solidFill>
            <a:srgbClr val="34D399">
              <a:alpha val="18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342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/ Agency / Carrier tabs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47672" y="433425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user modes — each surfaces different AI capabilities and BNCA outputs.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" y="4882896"/>
            <a:ext cx="1417320" cy="438912"/>
          </a:xfrm>
          <a:prstGeom prst="rect">
            <a:avLst/>
          </a:prstGeom>
          <a:solidFill>
            <a:srgbClr val="34D399">
              <a:alpha val="18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8289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Cross-sell Engine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47672" y="488289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current client profile for uncovered lines. Returns ranked opportunities with scripts.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9768" y="5431536"/>
            <a:ext cx="1417320" cy="438912"/>
          </a:xfrm>
          <a:prstGeom prst="rect">
            <a:avLst/>
          </a:prstGeom>
          <a:solidFill>
            <a:srgbClr val="34D399">
              <a:alpha val="18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4315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AI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947672" y="543153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state reg checker. Enter carrier + state + product = instant compliance flag.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3657600"/>
            <a:ext cx="557784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657600"/>
            <a:ext cx="55778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369417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P&amp;C Enterprise Command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44768" y="407822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tsm-shell.fly.dev/html/pc-command/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44768" y="4334256"/>
            <a:ext cx="1417320" cy="438912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43342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Ticker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662672" y="433425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 shows real-time pipeline: quotes pending, renewal alerts, risk flags, carrier updates.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44768" y="4882896"/>
            <a:ext cx="1417320" cy="438912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488289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 Pipeline panel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662672" y="488289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quotes with carrier match score. Flagged items show underwriting gaps before submission.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44768" y="5431536"/>
            <a:ext cx="1417320" cy="438912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72200" y="54315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Renewal Engine tab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662672" y="5431536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renewal calendar with retention risk score. BNCA per account: retain, rerate, or market.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based on industry benchmarks and agency book averages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Medicare Enrollment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07792" y="1188720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1887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72-hr manual eligibility check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1188720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1887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&lt; 60s with TSM compliance node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11155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enrolled clients per day · Zero CMS violations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20240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2024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DME Benefit Recovery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07792" y="1993392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9933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0% of agents check DME at renewal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1993392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19933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100% auto-checked with TSM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18120" y="192024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$2,400 per client · Retention and referral tool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724912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72491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 Denial Appeals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07792" y="2798064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27980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&lt; 20% of denials pursued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2798064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27980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100% scored, deadlines tracked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18120" y="272491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$150K–$500K recovered per agency annually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529584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529584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529584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Onboarding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07792" y="3602736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360273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6-month ramp to first production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3602736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13248" y="360273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Weeks with TSM AI coaching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18120" y="35295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faster to quota · Lower manager burden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334256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334256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33425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P&amp;C Renewal Retention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07792" y="4407408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440740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Reactive — lost at non-renewal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49240" y="4407408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3248" y="440740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90-day risk scoring, proactive BNCA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18120" y="433425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reduction in renewal leakage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138928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5138928"/>
            <a:ext cx="2514600" cy="713232"/>
          </a:xfrm>
          <a:prstGeom prst="rect">
            <a:avLst/>
          </a:prstGeom>
          <a:solidFill>
            <a:srgbClr val="0B1628">
              <a:alpha val="4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513892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E&amp;O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07792" y="5212080"/>
            <a:ext cx="2331720" cy="566928"/>
          </a:xfrm>
          <a:prstGeom prst="rect">
            <a:avLst/>
          </a:prstGeom>
          <a:solidFill>
            <a:srgbClr val="FEE2E2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521208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Reactive — discovered at audit or claim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49240" y="5212080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13248" y="521208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TSM  Proactive — caught at point of sale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18120" y="513892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surprise violations · Defensible audit trail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0040" y="6473952"/>
            <a:ext cx="11475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Insurance Intelligence pays for itself in recovered denials and DME benefits alone — everything else is growth.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How TSM Integrates with Your Agency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rip-and-replace. TSM layers on your existing workflows and adds value from day one.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3749040" cy="822960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Activate &amp; Configure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75104"/>
            <a:ext cx="45720" cy="621792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GROQ API key — single setup, all apps unlocked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45720" cy="621792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starting app: AZ Command, DME, or Agents Intel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01568"/>
            <a:ext cx="45720" cy="621792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library loaded for your top 10 markets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14800"/>
            <a:ext cx="45720" cy="621792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Manager workflow configured for your team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987552"/>
            <a:ext cx="3749040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&amp; Calibrate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9768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1975104"/>
            <a:ext cx="45720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20 real client scenarios through BNCA pipeline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9768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2688336"/>
            <a:ext cx="45720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node outputs against your agency decisions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3401568"/>
            <a:ext cx="45720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accuracy reviewed daily with senior agent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9768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4114800"/>
            <a:ext cx="45720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tunes Insurance Strategist to your market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0100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01000" y="987552"/>
            <a:ext cx="374904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Deployment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3816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1975104"/>
            <a:ext cx="457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apps live across agency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13816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2688336"/>
            <a:ext cx="457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4788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queue integrated into daily agent workflow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13816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3401568"/>
            <a:ext cx="457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4788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analysis: cross-sell, DME, and renewal scoring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13816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38160" y="4114800"/>
            <a:ext cx="45720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4788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calibration reviews and model updates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0040" y="5074920"/>
            <a:ext cx="1147572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507492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with: EzLynx · Applied Epic · Hawksoft · AgencyZoom · Medicare Compare · Healthcare.gov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20040" y="5623560"/>
            <a:ext cx="11475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compliant · No client PII stored · NPN 18818059 licensed · State-specific rule library maintained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6080760"/>
            <a:ext cx="11475720" cy="53035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080760"/>
            <a:ext cx="11228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agency can be running live BNCA outputs on real client scenarios within one week of agreement.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Anticipated Questions — Prepared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for these. Every answer reinforces TSM value.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14300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this legal — can AI give insurance advice?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44475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AI recommends. The licensed agent decides and signs off. Every BNCA goes through HITL before any action. AI is the research tool; you are the advisor of record.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2024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2024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196596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the AI gives wrong carrier guidance?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26771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has a confidence score. Low-confidence outputs auto-route to HITL. The agent reviews before submission. TSM is a second opinion engine, not an autopilot.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4320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4320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278892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current is the carrier and compliance data?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09067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appetite matrix and state regs update continuously. CMS rule changes are pushed within 24 hours of publication. Your GROQ key runs against live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56616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6616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36118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this work with our existing AMS or CRM?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91363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apps run alongside your existing tools via browser. API integration with EzLynx, Applied Epic, and AgencyZoom available for enterprise deployments.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38912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38912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8912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443484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it cost and what is the ROI?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473659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per user or per agency. At average agency size, recovered claim denials and DME benefits alone return 5-10x the annual cost. See pricing1.html for tier breakdown.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521208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5212080"/>
            <a:ext cx="320040" cy="7498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521208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" y="525780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we white-label this for our agents or clients?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" y="555955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Agency and carrier white-labeling is available at enterprise tier. Your brand, your NPN, TSM intelligence layer underneath.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5029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Intelligence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next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C8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your call.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02920" y="261518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15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78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your starting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9443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Command, DME, Agents Intel, or P&amp;C — choose highest pain point 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9242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355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5 real client scenarios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7216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BNCA outputs on your actual book — see it work on your business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6966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33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your HITL workflow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4988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agent review queue — 1 hour to configure for your team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94690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910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live — see results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52760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clients, real BNCA outputs, real ROI — tracked from day 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1188720"/>
            <a:ext cx="35661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B1628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1188720"/>
            <a:ext cx="356616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2435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start?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9640" y="1828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0" y="18288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18818059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966960" y="233172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Producer · Active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2834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2834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 online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9640" y="3337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66960" y="33375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to first BNCA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496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966960" y="384048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4964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66960" y="43434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Enterprise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Insurance Intelligence. Every client question answered. Every action accountable.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2026-04-27T00:54:30Z</dcterms:created>
  <dcterms:modified xsi:type="dcterms:W3CDTF">2026-04-27T00:54:30Z</dcterms:modified>
</cp:coreProperties>
</file>