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2926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48840" y="612648"/>
            <a:ext cx="2011680" cy="274320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612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Banner Health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Clinical &amp; Revenue Cycle Intelligence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Intake to HITL-Approved Action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Doc-to-BNCA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61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893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Routing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Banner Health · Strategic Partnership Review ·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Problem Banner Faces Every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document types. Thousands of encounters. Manual review, delays, denials — and avoidable risk.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solidFill>
            <a:srgbClr val="FDECEA"/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$262B lost annually to claim denials (CAQH)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avg delay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clinical review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block submission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follow-up orders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score uncalculated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risk unaddressed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appeal success rates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missed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denial codes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78824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78824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1744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Orders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15984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clinical context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not obtained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rejection delays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Reconciliation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discrepancies undetected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meds across transitions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risk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2968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75888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Notifications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not notified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compliance failures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coordination gaps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25896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28816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Forms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63056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signatures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undocumented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not secured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78824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78824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15984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381744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15984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Undercoding / overbilling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 elements missing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recoupment risk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 processes all 8 document types simultaneously — with AI nodes that catch what humans miss.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system for clinical and revenue cycle documents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749040" cy="4937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749040" cy="640080"/>
          </a:xfrm>
          <a:prstGeom prst="rect">
            <a:avLst/>
          </a:prstGeom>
          <a:solidFill>
            <a:srgbClr val="4A6FA5">
              <a:alpha val="85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Input Layer — Document Library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3529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 type, any version, any condition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87452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874520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87452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36829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368296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36829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" y="286207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862072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86207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3355848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355848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35584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" y="3849624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849624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849624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Reconciliation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" y="434340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4343400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434340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Notifications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" y="483717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4837176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483717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Forms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" y="533095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5330952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533095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87368" y="3200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0" y="1097280"/>
            <a:ext cx="3749040" cy="4937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1097280"/>
            <a:ext cx="3749040" cy="640080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113385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Layer — HC-Nodes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07408" y="1481328"/>
            <a:ext cx="3529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specialized AI nodes analyze every document in parallel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07408" y="187452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7408" y="1874520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17136" y="187452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Node — CPT/ICD accuracy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07408" y="236829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7408" y="2368296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17136" y="236829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Node — regulatory gaps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07408" y="286207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7408" y="2862072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17136" y="286207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Node — care quality flags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407408" y="3355848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07408" y="3355848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17136" y="335584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Node — liability &amp; revenue risk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65008" y="3200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275320" y="1097280"/>
            <a:ext cx="3749040" cy="4937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5320" y="1097280"/>
            <a:ext cx="3749040" cy="64008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85048" y="113385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Action Layer — BNCA Pipeline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85048" y="1481328"/>
            <a:ext cx="3529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→ Main Strategist → HITL Manager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85048" y="187452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85048" y="1874520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94776" y="187452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synthesizes node findings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85048" y="236829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5048" y="2368296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94776" y="236829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prioritizes &amp; escalates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85048" y="286207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85048" y="2862072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94776" y="286207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reviews &amp; approves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385048" y="3355848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85048" y="3355848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94776" y="335584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 every action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20040" y="62636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enters. Every document exits with a clear, prioritized, human-reviewed action.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GHS Healthcare Command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upload to HITL-approved action — every step tracked, every decision logged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057400" cy="2286000"/>
          </a:xfrm>
          <a:prstGeom prst="rect">
            <a:avLst/>
          </a:prstGeom>
          <a:solidFill>
            <a:srgbClr val="4A6FA5">
              <a:alpha val="9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6132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parse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41448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78608" y="1143000"/>
            <a:ext cx="2057400" cy="228600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7268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7268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70048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HC-Nodes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Parallel)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Comply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·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1143000"/>
            <a:ext cx="2057400" cy="228600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18404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8404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01184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node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BNCA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4536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1143000"/>
            <a:ext cx="2057400" cy="2286000"/>
          </a:xfrm>
          <a:prstGeom prst="rect">
            <a:avLst/>
          </a:prstGeom>
          <a:solidFill>
            <a:srgbClr val="2C4A6E">
              <a:alpha val="90000"/>
            </a:srgbClr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9540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9540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Escalation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34856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05672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72016" y="1143000"/>
            <a:ext cx="2057400" cy="2286000"/>
          </a:xfrm>
          <a:prstGeom prst="rect">
            <a:avLst/>
          </a:prstGeom>
          <a:solidFill>
            <a:srgbClr val="004F9F">
              <a:alpha val="90000"/>
            </a:srgbClr>
          </a:solidFill>
          <a:ln w="12700">
            <a:solidFill>
              <a:srgbClr val="004F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80676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80676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63456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63456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036808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36808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" y="3675888"/>
            <a:ext cx="11475720" cy="141732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675888"/>
            <a:ext cx="54864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749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BNCA OUTPUT — Best Next Course of Action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Node → ICD/CPT verified, bundling checked, modifier flagged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Node → regulatory gaps identified, deadlines captured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Node → care quality flags, medical necessity gaps surfaced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Node → liability, revenue risk, and escalation path determined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HC-Strategist → synthesizes all 4 findings into single prioritized BNCA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 Strategist → assigns urgency tier, routes to correct team or HITL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" y="5230368"/>
            <a:ext cx="11475720" cy="475488"/>
          </a:xfrm>
          <a:prstGeom prst="rect">
            <a:avLst/>
          </a:prstGeom>
          <a:solidFill>
            <a:srgbClr val="E6EEF8"/>
          </a:solidFill>
          <a:ln w="9525">
            <a:solidFill>
              <a:srgbClr val="004F9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230368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4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HITL Manager — Reviews BNCA, approves or modifies action, with full audit trail. Every decision is accountable.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time: under 90 seconds · Zero manual routing · 100% audit trail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&amp; Main Strategist — The Decision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layers that transform node findings into prioritized, human-ready 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5349240" cy="4983480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534924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HC-Strategist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169164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all 4 node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Compliance, Clinical, and Risk outputs arrive simultaneously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46888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between nodes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nodes disagree, HC-Strategist adjudicates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24612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BNCA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4838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Next Course of Action — single, specific, actionable recommendation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402336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confidence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611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 confidence routes to different HITL escalation paths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8006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782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for routing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0383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billing, clinical, compliance, or HITL review queue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79008" y="31272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99632" y="960120"/>
            <a:ext cx="5376672" cy="4983480"/>
          </a:xfrm>
          <a:prstGeom prst="rect">
            <a:avLst/>
          </a:prstGeom>
          <a:solidFill>
            <a:srgbClr val="EEF2F8"/>
          </a:solidFill>
          <a:ln w="9525">
            <a:solidFill>
              <a:srgbClr val="2C4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960120"/>
            <a:ext cx="5376672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Main Strategist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27648" y="169164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167335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BNCA from HC-Strategist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192938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confidence score and routing tag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246888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245059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pattern recognition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270662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systemic issues across submissions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24612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22783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 assignment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348386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Urgent · P2 Revenue Critical · P3 Standard · P4 Info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402336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400507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determination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426110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billing, compliance, CMO, or HITL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480060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478231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HITL Manager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0840" y="503834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BNCA + findings + priority for human sign-off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delivers to HITL Manager: full audit package ready for human review and approval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— Human-in-the-Loop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 Humans decide. Every action is accountable.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394960" cy="502920"/>
          </a:xfrm>
          <a:prstGeom prst="rect">
            <a:avLst/>
          </a:prstGeom>
          <a:solidFill>
            <a:srgbClr val="004F9F">
              <a:alpha val="90000"/>
            </a:srgbClr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HITL Manager receives: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66420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document (any version, any condition)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11226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HC-Node findings — individually labeled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BNCA with confidence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08376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priority tier (P1-P4)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456432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and 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390448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 if patient safety or urgent revenue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435254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time-stamped audit trail from intake to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1078992"/>
            <a:ext cx="5394960" cy="50292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HITL Manager can do: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82512" y="1719072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17190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171907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BNCA and trigger action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82512" y="2249424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2494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Modify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2249424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BNCA before approval — reason logged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2779776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77977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Return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2779776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to HC-Strategist with context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3310128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33101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Escalate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26680" y="3310128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to CMO, compliance, or dept head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82512" y="3840480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38404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Flag urgent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3840480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to P1 — same-day response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82512" y="4370832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437083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Archive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26680" y="437083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resolved, saved to chart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" y="5349240"/>
            <a:ext cx="11338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HITL is non-negotiable: Regulatory compliance requires human sign-off · Liability stays with the institution · Edge cases handled by humans · Every GHS action is auditable and defensible.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Document Library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document type · Select version · Watch pipeline · Read the BNCA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155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Demo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loaded at tsm-shell.fly.dev/html/ghs/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1155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98264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Document Type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98264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types as clickable cards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 panel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11155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11896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1896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v1=Incomplete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v2=Partial/conflicting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v3=Complete/clean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" y="3493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Process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full GHS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real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1104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98264" y="3493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9826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98264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HC-Nodes Fire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98264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 light up: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Coding·Comply·Clinical·Risk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3493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3310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311896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BNCA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11896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Next Course of Action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HITL action item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5715000"/>
            <a:ext cx="11475720" cy="93268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8064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Demo Tip: Run the BROKEN version (v1) first — then CLEAN (v3). The contrast between HOLD and APPROVE &amp; SUBMIT lands the value instantly.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Prior Authorization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processes thousands of PAs monthly. 72-hr avg delay. &gt;15% first-pass denial rate.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Incomplete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notes missing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imaging attached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Conservative tx history absent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HOLD — Cannot submit. 3 required fields missing.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Conflicting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diagnosis conflict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policy EXPIRED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URGENT flag, no escalation path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URGENT HOLD — Two critical blockers. Same-day resolution required.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Complete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CPT 27447 + ICD-10 verified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active through 12/2025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8-month PT failure documented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APPROVE &amp; SUBMIT — Auto-approval expected 24-48hrs.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catches policy expiration and diagnosis conflict before submission — saving 2-3 days of payer back-and-forth.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Click Prior Auth → v1 → Process → observe HOLD → v3 → Process → observe APPROVE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Discharge Summary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rates directly tied to documentation quality. Missing LACE scores are Banner top compliance gap.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Minimal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follow-up orders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Medication list incomplete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LACE score uncalculated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ESCALATE — Discharge cannot be finalized.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High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LACE score: 14 (HIGH RISK)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lives alone — no transport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monitoring verbal 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INTERVENE — 5 immediate actions required before discharge.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Complete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TCM enrolled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health ordered next day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Cardiology + PCP within 7 days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APPROVE DISCHARGE — All readmission prevention in place.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catches solo-living + no-transport + verbal-only education — the exact profile that readmits within 30 days.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Discharge Summary → v2 → show LACE 14 flag → v3 → APPROVE output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Claim Denial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loses millions to underpursued appeals. CO-97/CO-4 dual-code denials frequently misrouted or abandoned.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Bare Denial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appeal deadline stated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contact information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claim not on 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INVESTIGATE — File cannot be appealed. Clock may be running.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Conflicting Codes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CO-97 + CO-4 dual code conflict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claim missing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Appeal deadline: 05/10/2025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APPEAL RECOMMENDED — Dual-code = payer error. Act by 05/05.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Actionable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CO-97 resolved: BCB-99100 paid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contact info present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notes + remit required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EXECUTE APPEAL — Pull remit, submit before 05/05.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identifies CO-97+CO-4 as payer error signature — routes to appeals, not write-off.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Claim Denial → v1 → show revenue risk → v3 → EXECUTE APPEAL output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Medication Reconciliation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discrepancies are #1 cause of preventable adverse events during care transitions. Manual misses ~30% of dose errors.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Unverified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unable to list meds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pharmacy pull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status unknown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STOP — Do not administer. Pull pharmacy records immediately.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Discrepancy Found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Metoprolol: 25mg home vs 50mg ordered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Atorvastatin missing from orders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4.2 — supratherapeutic, no hold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URGENT INTERVENTION — 3 patient safety events identified.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Reconciled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discrepancies corrected + cosigned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hold ordered, recheck 04/24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Allergy upgraded: Penicillin → Anaphylaxis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COMPLETE — Reconciliation verified. No further action.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catches INR 4.2 + no hold order — a bleeding event waiting to happen — before any dose is administered.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Med Reconciliation → v2 → show 3 patient safety flags → v3 → COMPLETE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Narrative — What the Audience Sees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script during the live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Demo Interface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11338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GHS Healthcare Command. Every document type Banner encounters is already loaded.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Prior Auth — v1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an incomplete PA looks like when it hits your queue. Let us run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Process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121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nodes — Coding, Compliance, Clinical, Risk — all firing simultaneously.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solidFill>
            <a:srgbClr val="D84040">
              <a:alpha val="80000"/>
            </a:srgbClr>
          </a:solidFill>
          <a:ln w="12700">
            <a:solidFill>
              <a:srgbClr val="D84040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6151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HOLD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6151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expired. Diagnosis conflict. This would have gone to payer and been denied in 72 hours.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v3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 — fully documented. Same workflow, same button.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6027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APPROVE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3602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Auto-approval expected 24-48 hours. No manual review. No phone call to the physician.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05993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4096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Recon — v2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29000" y="4096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scenario. This is where AI saves lives, not just time.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55371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solidFill>
            <a:srgbClr val="D84040">
              <a:alpha val="80000"/>
            </a:srgbClr>
          </a:solidFill>
          <a:ln w="12700">
            <a:solidFill>
              <a:srgbClr val="D8404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4590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290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4.2 with no hold order. Metoprolol doubled. Atorvastatin missing. Three events.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04748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solidFill>
            <a:srgbClr val="D84040">
              <a:alpha val="80000"/>
            </a:srgbClr>
          </a:solidFill>
          <a:ln w="12700">
            <a:solidFill>
              <a:srgbClr val="D8404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5084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29000" y="5084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patient was 90 seconds from a dangerous dose. GHS caught it at intake.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554126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584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42900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CO-97 + CO-4 — this is usually written off. GHS routes it to appeals.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 Guide — Exact Buttons &amp;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during the demo to navigate GHS Healthcare Command confidently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57784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 Panel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490472"/>
            <a:ext cx="1417320" cy="43891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Card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47672" y="149047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of 8 cards — turns blue (active). Shows raw document text in preview pane.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039112"/>
            <a:ext cx="1417320" cy="43891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/ v2 / v3 pills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47672" y="203911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selector under each card. v1=broken, v2=partial, v3=complete. Active pill turns info-blue.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2587752"/>
            <a:ext cx="1417320" cy="43891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877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Preview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47672" y="25877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Auto-appears below cards showing raw document text when version selected.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60120"/>
            <a:ext cx="557784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Control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44768" y="1490472"/>
            <a:ext cx="1417320" cy="43891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4904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button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62672" y="149047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CTA — activates full GHS pipeline. Active once document version selected.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2039112"/>
            <a:ext cx="1417320" cy="43891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0391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button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62672" y="203911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trigger — same pipeline, different entry point for synthesis-first workflows.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2587752"/>
            <a:ext cx="1417320" cy="43891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5877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indicators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62672" y="25877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animate: idle (—) → active (spinner) → complete (checkmark).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29000"/>
            <a:ext cx="55778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4655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Output Panel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" y="3959352"/>
            <a:ext cx="1417320" cy="43891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59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Confidence scores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47672" y="39593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percentage scores showing AI confidence for each HC-Node analysis.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" y="4507992"/>
            <a:ext cx="1417320" cy="43891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079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Recommendation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47672" y="450799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synthesized Best Next Course of Action — specific and actionable.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5056632"/>
            <a:ext cx="1417320" cy="43891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056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Action row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47672" y="505663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manager does next. Ties AI output to real workflow.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42900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3429000"/>
            <a:ext cx="5577840" cy="4114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4655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Interface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44768" y="3959352"/>
            <a:ext cx="1417320" cy="438912"/>
          </a:xfrm>
          <a:prstGeom prst="rect">
            <a:avLst/>
          </a:prstGeom>
          <a:solidFill>
            <a:srgbClr val="2C4A6E">
              <a:alpha val="18000"/>
            </a:srgbClr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959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tsm-shell.fly.dev/html/ghs/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62672" y="39593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Chrome alongside this deck. Alt-tab between slides and demo.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44768" y="4507992"/>
            <a:ext cx="1417320" cy="438912"/>
          </a:xfrm>
          <a:prstGeom prst="rect">
            <a:avLst/>
          </a:prstGeom>
          <a:solidFill>
            <a:srgbClr val="2C4A6E">
              <a:alpha val="18000"/>
            </a:srgbClr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5079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key (localStorage)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62672" y="450799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once: window.__GROQ_KEY__ = gsk_... Persists across all refreshes.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44768" y="5056632"/>
            <a:ext cx="1417320" cy="438912"/>
          </a:xfrm>
          <a:prstGeom prst="rect">
            <a:avLst/>
          </a:prstGeom>
          <a:solidFill>
            <a:srgbClr val="2C4A6E">
              <a:alpha val="18000"/>
            </a:srgbClr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5056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confidence grid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62672" y="505663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BNCA panel — shows Operations, Medical, Pharmacy, Insurance scores live.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Health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industry benchmarks and Banner document volumes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7792" y="1188720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72-hr avg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118872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&lt; 2 hrs with GHS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11155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approvals, fewer missed treatment windows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7792" y="1993392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15-25% first-pass denial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993392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&lt; 5% with GHS pre-check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19202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$2-8M annually recovered from denied claims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24912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249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07792" y="2798064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Manual LACE scoring, missed follow-ups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798064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Auto-scored, TCM auto-triggered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27249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 reduction 18-25%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29584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29584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52958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Reconciliation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07792" y="3602736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~30% of transitions miss discrepancy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3602736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100% verified before administration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35295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drug events reduced, malpractice exposure lowered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34256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334256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33425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07792" y="4407408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Reactive — discovered at audit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49240" y="4407408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Proactive — caught at intake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18120" y="433425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surprise CMS findings. Every document defensible.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13892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138928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51389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Efficiency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07792" y="5212080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Hours per document type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49240" y="521208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Minutes with HITL approval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513892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staff time freed for patient care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6473952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 pays for itself in recovered claims alone — everything else is operational and clinical upside.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How GHS Integrates with Banner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GHS layers on existing systems and adds value from day 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3749040" cy="8229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Configure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with Banner EHR (Epic/Cerner)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intake mapping for all 8 doc types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01568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rule library loaded (BlueCross, Aetna, Medicare)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dashboard configured for Banner workflows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987552"/>
            <a:ext cx="37490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Calibrate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975104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2-3 highest-pain doc types for pilot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2688336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HC-Nodes calibrated on Banner denial patterns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401568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accuracy reviewed daily with clinical team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4114800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with Main Strategist for Banner-specific rules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01000" y="987552"/>
            <a:ext cx="37490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3816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1975104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document types live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13816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2688336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788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queue integrated into Banner approval workflows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3401568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for volume, accuracy, and ROI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3816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4114800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788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 reviews and model updates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" y="5074920"/>
            <a:ext cx="1147572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07492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with: Epic · Cerner · athenahealth · Change Healthcare · Availity · HL7 FHIR R4 compliant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0040" y="5623560"/>
            <a:ext cx="11475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 · SOC 2 Type II · No patient data leaves Banner environment · On-prem or private cloud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6080760"/>
            <a:ext cx="114757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080760"/>
            <a:ext cx="11228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can be processing real documents through GHS Healthcare Command within 3 weeks of agreement.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 — Prepared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these. Every answer reinforces GHS value and Banner fit.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GHS handle edge cases the nodes have not seen before?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447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routes low-confidence outputs to HITL Manager automatically. Unknown patterns trigger a learning flag for model calibration.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96596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AI is wrong?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26771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BNCA is reviewed by HITL Manager before any action is taken. AI recommends; Banner people decide. Full audit trail means errors are caught, not buried.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78892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work with our existing Epic/Cerner workflows?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09067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integrates via HL7 FHIR R4 API. Documents pulled from existing workflows, BNCA outputs pushed back into Epic task queue or your PA/UM system.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6118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patient data leaving Banner systems?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91363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GHS deploys on Banner private cloud or on-prem. HIPAA compliant, SOC 2 Type II certified, zero data exfiltration by design.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443484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validate accuracy before going live?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73659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is a calibration period — BNCA outputs reviewed daily against Banner actual decisions. We hit &gt;92% agreement before expanding.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52120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" y="52578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and what is the ROI model?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55595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per document volume. At Banner scale, recovered denials alone typically return 4-8x the annual contract value in year one.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502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Command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up to Banner.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78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discovery 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GHS intake to Banner document workflows — 1 hour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 pilot doc types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216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highest-pain types for Phase 2 calibration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pilot agreement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4988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onboarding, no long-term commitment required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94690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910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— see 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2760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Banner documents, real BNCA outputs, real ROI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118872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1188720"/>
            <a:ext cx="35661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243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18288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Command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timeline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66960" y="23317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to first live doc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2834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Pilot-first, no lock-in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66960" y="3337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SOC 2 Type II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66960" y="38404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R4 ready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0" y="43434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tsm-shell.fly.dev/html/ghs/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Command. Every document enters. Every action is accountable.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2026-04-27T00:22:28Z</dcterms:created>
  <dcterms:modified xsi:type="dcterms:W3CDTF">2026-04-27T00:22:28Z</dcterms:modified>
</cp:coreProperties>
</file>