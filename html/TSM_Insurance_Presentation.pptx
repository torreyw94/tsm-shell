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2926080"/>
          </a:xfrm>
          <a:prstGeom prst="rect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612648"/>
            <a:ext cx="23774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612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Intelligence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 Insurance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Suite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 for Every Line of Business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P&amp;C · Life · DME · Compliance · Agent Intelligence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60s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to BNCA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893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TSMatter · NPN 18818059 · Licensed AZ Producer · AI Intelligence for Insurance Professionals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Insurance Gap — What AI Solves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agencies, and carriers are leaving revenue, compliance, and clients on the table every 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$17B lost annually to insurance admin inefficiency (ACLI)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Auth &amp; Enrollment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eligibility checks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plan comparisons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enrollment windows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&amp; DME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Part B benefits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benefit check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 wasted on lookup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Denials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appeal rates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missed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codes misrouted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78824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78824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Audits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15984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regs change constantly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rule gaps undetected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E&amp;O exposure from misadvice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Operations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cycle too slow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mismatches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leakage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75888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Productivity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carrier portals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market intel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ramp time: 6+ months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28816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Management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63056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cross-sell visibility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reactive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analysis manual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78824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78824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984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81744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Intelligence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15984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blind spots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gaps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risk scoring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 addresses all 8 problem areas simultaneously — with AI nodes built for insurance workflows.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 Insurance Intelligence Suite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AI-powered apps. Every line of business. One intelligence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212848" cy="658368"/>
          </a:xfrm>
          <a:prstGeom prst="rect">
            <a:avLst/>
          </a:prstGeom>
          <a:solidFill>
            <a:srgbClr val="2A9D8F">
              <a:alpha val="88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 AZ Insurance Command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insurance operations 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83664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Life · P&amp;C tabs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14016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monitoring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44368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matrix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74720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BNCA-powered recommendations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5176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1078992"/>
            <a:ext cx="2212848" cy="658368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DME Benefits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B benefit maximizer for agents and clients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883664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DME categories auto-checked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2414016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verification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944368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benefit guide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3474720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built 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1078992"/>
            <a:ext cx="2212848" cy="658368"/>
          </a:xfrm>
          <a:prstGeom prst="rect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Agents Intelligence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for agents, agencies, and carriers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74920" y="1883664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intelligence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7492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74920" y="2414016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rule library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7492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74920" y="2944368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opportunity engine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3474720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compliance AI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31520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1078992"/>
            <a:ext cx="2212848" cy="658368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P&amp;C Enterprise Command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casualty operations command center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0664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1883664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pipeline management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0664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06640" y="2414016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analytics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40664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2944368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gap detection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40664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06640" y="347472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risk scoring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64692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46920" y="1078992"/>
            <a:ext cx="2212848" cy="658368"/>
          </a:xfrm>
          <a:prstGeom prst="rect">
            <a:avLst/>
          </a:prstGeom>
          <a:solidFill>
            <a:srgbClr val="4A6A8A">
              <a:alpha val="88000"/>
            </a:srgbClr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TSM Pricing Engine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73836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value-based pricing for every client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38360" y="1883664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2980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or volume pricing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73836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38360" y="2414016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2980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built in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73836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38360" y="2944368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2980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comparison view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73836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38360" y="3474720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298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enterprise quotes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20040" y="62362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apps share the same BNCA intelligence layer — every recommendation is auditable, human-reviewed, and actionable.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TSM Insurance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 question to HITL-approved action — every step tracked, every decision logged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057400" cy="2286000"/>
          </a:xfrm>
          <a:prstGeom prst="rect">
            <a:avLst/>
          </a:prstGeom>
          <a:solidFill>
            <a:srgbClr val="4A6A8A">
              <a:alpha val="90000"/>
            </a:srgbClr>
          </a:solidFill>
          <a:ln w="12700">
            <a:solidFill>
              <a:srgbClr val="4A6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Query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line · Any doc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1448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78608" y="1143000"/>
            <a:ext cx="2057400" cy="2286000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68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726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0048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Nodes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(4 Parallel)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Coverage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·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1143000"/>
            <a:ext cx="2057400" cy="2286000"/>
          </a:xfrm>
          <a:prstGeom prst="rect">
            <a:avLst/>
          </a:prstGeom>
          <a:solidFill>
            <a:srgbClr val="C9A84C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18404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8404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01184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nodes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BNCA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4536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1143000"/>
            <a:ext cx="2057400" cy="2286000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9540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9540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Escalation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routing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34856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05672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1143000"/>
            <a:ext cx="2057400" cy="228600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80676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80676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63456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63456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036808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36808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3675888"/>
            <a:ext cx="11475720" cy="141732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675888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749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BNCA OUTPUT — Best Next Course of Action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Node → state reg gaps, CMS rules, E&amp;O exposure flagged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Node → plan-to-need match, gaps identified, alternatives ranked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Node → denial probability, appeal path, deadline tracked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Node → carrier appetite match, loss ratio exposure, escalation path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Strategist → synthesizes all 4 nodes into single BNCA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Strategist → assigns urgency, routes to agent, compliance, or HITL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5230368"/>
            <a:ext cx="11475720" cy="475488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230368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Manager — Reviews BNCA, approves or modifies action, full audit trail. Every decision accountable.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time: under 60 seconds · Zero manual carrier lookup · 100% audit trail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Strategist &amp; Main Strategist — The Decision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layers that transform node findings into prioritized, human-ready 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349240" cy="4983480"/>
          </a:xfrm>
          <a:prstGeom prst="rect">
            <a:avLst/>
          </a:prstGeom>
          <a:solidFill>
            <a:srgbClr val="F8F5E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34924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Insurance Strategist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Receives all 4 node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Coverage, Claims, and Risk outputs arrive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688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Resolves conflicts between nodes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nodes disagree, Insurance Strategist adjudicates on line-of-business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4612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the BNCA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4838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 — single, specific, carrier-ready recommendation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02336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Assigns confidence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 confidence routes to different HITL escalation paths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8006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782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Tags for routing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0383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agent action, carrier submission, compliance review, or HITL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79008" y="31272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960120"/>
            <a:ext cx="5376672" cy="4983480"/>
          </a:xfrm>
          <a:prstGeom prst="rect">
            <a:avLst/>
          </a:prstGeom>
          <a:solidFill>
            <a:srgbClr val="F0F4F8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960120"/>
            <a:ext cx="5376672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Main Strategist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27648" y="169164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167335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Receives BNCA from Insurance Strategist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192938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confidence score and routing tag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246888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24505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Cross-account pattern recognition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7066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systemic issues across book of business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24612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2278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tier assignment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34838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Urgent · P2 Revenue Critical · P3 Standard · P4 Info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40233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40050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 path determination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426110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agent, carrier, compliance officer, or HITL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480060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478231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to HITL Manager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503834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BNCA + findings + priority for human sign-off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delivers to HITL Manager: full audit package ready for agent review and approval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 Manager — Human-in-the-Loop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Licensed agents decide. Every action is compliant and accountable.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394960" cy="50292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HITL Manager receives: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6420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document or client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11226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AI Node findings — individually labeled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Strategist BNCA with confidence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08376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priority tier (P1-P4)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456432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and carrier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390448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if compliance or E&amp;O risk detected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435254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time-stamped audit trail from intake to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078992"/>
            <a:ext cx="5394960" cy="502920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HITL Manager can do: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82512" y="1719072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7190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Approve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171907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BNCA and trigger agent or carrier 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249424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2494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Modify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2249424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BNCA before approval — reason logged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2779776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7797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↩ Return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2779776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to Insurance Strategist with context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310128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33101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 Escalate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26680" y="3310128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to compliance officer or E&amp;O carrier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3840480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8404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Flag urgent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384048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to P1 — same-day resolution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4370832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437083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 Archive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437083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resolved, saved to client record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5349240"/>
            <a:ext cx="11338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HITL is non-negotiable in insurance: State licensing requires human agent sign-off · E&amp;O liability stays with the licensee · Edge cases handled by experienced agents · Every TSM action is auditable and defensible.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Insurance Suite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apps · Click any scenario · Watch pipeline · Read the BNCA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AZ Insurance Command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at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tsm-shell.fly.dev/html/az-ins/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tabs 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98264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 Medicare Scenario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98264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Medicare tab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client profile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compliance node fire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11896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to DME Benefits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1896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tsm-shell.fly.dev/html/dme/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benefit guide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coverage shown instantly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Agents Intelligence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tsm-shell.fly.dev/html/agents-ins/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agent workflows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engine live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1104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98264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9826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98264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Enterprise Command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98264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tsm-shell.fly.dev/html/pc-command/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lines dashboard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ticker + risk scoring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3310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311896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Pricing Page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11896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tsm-shell.fly.dev/html/pricing1.html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comparison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5715000"/>
            <a:ext cx="11475720" cy="932688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8064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Demo Tip: Start with the Medicare compliance scenario — show a HOLD result first, then a clean approval. The contrast between a compliance flag and a clean BNCA lands the value instantly.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 AZ Insurance Command — Full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insurance command center. Every tab is a live AI node. NPN 18818059 licensed AZ producer.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Medicare Tab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Medicare Advantage plan comparison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 D formulary checker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IOEP/SEP eligibility validator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enroll, hold, or SEP-route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24128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ACA Tab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Income-based subsidy calculator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Metal tier optimizer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adequacy checker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optimal plan + enrollment path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35624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102412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Compliance Tab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45352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reg violation scanner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45352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 rule change tracker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E&amp;O exposure flags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45352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remediation steps with deadlines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43416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43416" y="1024128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53144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Carrier Intel Tab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153144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44584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Carrier appetite matrix by zip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53144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4584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Underwriting rule library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53144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44584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trend by carrier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53144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4584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best carrier match for risk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5138928"/>
            <a:ext cx="11475720" cy="621792"/>
          </a:xfrm>
          <a:prstGeom prst="rect">
            <a:avLst/>
          </a:prstGeom>
          <a:solidFill>
            <a:srgbClr val="E8F8F5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52120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Insurance Command unifies every line of business into one dashboard — no more portal-hopping between carriers.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5870448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870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tsm-shell.fly.dev/html/az-ins/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Medicare DME Benefits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Medicare beneficiaries leave thousands in Part B benefits unclaimed. This tool fixes that — for agents and clients.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CPAP &amp; Sleep Equipment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$1,500–$3,000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029968"/>
            <a:ext cx="1828800" cy="256032"/>
          </a:xfrm>
          <a:prstGeom prst="rect">
            <a:avLst/>
          </a:prstGeom>
          <a:solidFill>
            <a:srgbClr val="2A9D8F">
              <a:alpha val="7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covers CPAP machines, masks, and supplies with AHI diagnosis. Agents can identify candidates from current book.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24128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CGM &amp; Diabetes Supplies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$2,000–$4,000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GROWING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029968"/>
            <a:ext cx="1828800" cy="256032"/>
          </a:xfrm>
          <a:prstGeom prst="rect">
            <a:avLst/>
          </a:prstGeom>
          <a:solidFill>
            <a:srgbClr val="10B981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monitors now covered under Part B. Major benefit gap most agents miss on new Medicare clients.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5624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102412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Wheelchairs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$3,000–$6,000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45352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45352" y="2029968"/>
            <a:ext cx="1828800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 wheelchair coverage with home mobility assessment. Agent identifies need, triggers referral workflow.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43416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43416" y="1024128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Oxygen Concentrators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3144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$2,500–$5,000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53144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53144" y="2029968"/>
            <a:ext cx="1828800" cy="25603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oxygen rental covered indefinitely for qualifying diagnoses. Creates long-term client stickiness and referrals.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370832"/>
            <a:ext cx="11475720" cy="621792"/>
          </a:xfrm>
          <a:prstGeom prst="rect">
            <a:avLst/>
          </a:prstGeom>
          <a:solidFill>
            <a:srgbClr val="FFFBEB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44398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 case: Run DME check on every Medicare client annually. Average unclaimed benefit per client: $2,400. Becomes a referral machine.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5102352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0235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tsm-shell.fly.dev/html/dme/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Agents Intelligence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insurance professionals — agents, agencies, and carriers. Every line, every question, in real 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7033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Independent Agents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carrier rule lookup — no more portal-hopping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Cross-sell opportunity scanner across book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Medicare, ACA, Life, P&amp;C in one AI interface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conversation scripts powered by BNCA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1024128"/>
            <a:ext cx="3703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Agencies &amp; IMOs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onboarding AI — 6-month ramp cut to weeks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tracking with BNCA coaching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024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monitoring across all licensed agents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analysis: retention risk and growth gaps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1000" y="1024128"/>
            <a:ext cx="3703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Carriers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1072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intelligence — which agents sell what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072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appetite matching at point of sale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education and rule change notifications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072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early warning by agent segment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5376672"/>
            <a:ext cx="11475720" cy="621792"/>
          </a:xfrm>
          <a:prstGeom prst="rect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44982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agents using TSM Intelligence hit production benchmarks 3x faster. Senior agents add 18-25% to annual revenue from cross-sell AI.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6108192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10819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tsm-shell.fly.dev/html/agents-ins/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P&amp;C Enterprise Command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casualty operations command center. Commercial and personal lines. Live ticker, risk scoring, renewal intelligence.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703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GL, BOP, Workers Comp, Auto in one 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Carrier appetite match by NAICS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underwriting info flagged before submission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submit, hold, or re-quote with alternate carrier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1024128"/>
            <a:ext cx="3703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Intelligence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by policy, account, and segment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 claim history pattern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024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Adverse MVR and CLUE report alerts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renew, non-renew, or reunderwrite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1000" y="1024128"/>
            <a:ext cx="37033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Renewal Engine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1072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90-day renewal pipeline with risk scoring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072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adequacy gap detection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risk ranked by account value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072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retain, rerate, or market account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5138928"/>
            <a:ext cx="11475720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2120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agencies using enterprise command reduce renewal leakage by 22% and cut quote-to-bind time from days to hours.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870448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870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tsm-shell.fly.dev/html/pc-command/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Narrative — What the Audience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script during the live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solidFill>
            <a:srgbClr val="4A6A8A">
              <a:alpha val="80000"/>
            </a:srgbClr>
          </a:solidFill>
          <a:ln w="12700">
            <a:solidFill>
              <a:srgbClr val="4A6A8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AZ Insurance Command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1133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TSM Insurance Intelligence. Every line of business your agency writes is already loaded.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solidFill>
            <a:srgbClr val="4A6A8A">
              <a:alpha val="80000"/>
            </a:srgbClr>
          </a:solidFill>
          <a:ln w="12700">
            <a:solidFill>
              <a:srgbClr val="4A6A8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Medicare tab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a Medicare client inquiry looks like when it hits your queue. Let us run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client profile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121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nodes — Compliance, Coverage, Claims, Risk — all firing simultaneously.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615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BNCA: HOLD — SEP issue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6151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window closed. This would have been a CMS violation. Your E&amp;O carrier would not be happy.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to clean scenario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 — qualifying SEP event documented. Same workflow, same button.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027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BNCA: APPROVE &amp; ENROLL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selected. Enrollment path confirmed. No compliance flag. No carrier callback.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5993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DME Benefits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29000" y="4096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watch what this does for your existing Medicare book. Every client is leaving money on the table.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55371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590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CPAP benefit check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290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qualifies for $2,400 in Part B equipment. Did you know that? Did they?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04748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29000" y="5084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referral, a retention tool, and a value-add conversation — in 45 seconds.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554126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584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Command — renewal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42900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account. Three drivers not disclosed. Carrier would non-renew. We caught it at 90 days.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Feature Guide — Exact URLs &amp;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during the demo to navigate TSM Insurance Intelligence confidently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5778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Insurance Command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8074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tsm-shell.fly.dev/html/az-ins/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63677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36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Navigation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47672" y="163677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P&amp;C · Life · Compliance — each tab is a live AI node. Click to activate.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18541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button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47672" y="218541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 BNCA pipeline on current query. Active once profile or document entered.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73405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Intel tab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47672" y="27340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carrier appetite matrix. Filter by line, zip, and risk type.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960120"/>
            <a:ext cx="557784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Benefits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138074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tsm-shell.fly.dev/html/dme/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163677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636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Category Cards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62672" y="163677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of 8 DME types — CPAP, CGM, wheelchair, oxygen, etc. Shows benefit amount instantly.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18541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854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Eligibility CTA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62672" y="218541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Medicare Part B eligibility check against client profile.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73405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grid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62672" y="27340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process: check, qualify, refer. Client-facing explainer for use in appointments.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57600"/>
            <a:ext cx="557784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6941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Intelligence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" y="407822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tsm-shell.fly.dev/html/agents-ins/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" y="433425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342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/ Agency / Carrier tabs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47672" y="43342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user modes — each surfaces different AI capabilities and BNCA outputs.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488289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828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Cross-sell Engine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47672" y="488289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current client profile for uncovered lines. Returns ranked opportunities with scripts.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" y="543153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4315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47672" y="543153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state reg checker. Enter carrier + state + product = instant compliance flag.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65760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657600"/>
            <a:ext cx="5577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6941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Enterprise Command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44768" y="407822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tsm-shell.fly.dev/html/pc-command/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433425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3342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Ticker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62672" y="43342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 shows real-time pipeline: quotes pending, renewal alerts, risk flags, carrier updates.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44768" y="488289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8828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Pipeline panel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62672" y="488289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quotes with carrier match score. Flagged items show underwriting gaps before submission.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44768" y="543153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54315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Renewal Engine tab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662672" y="543153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renewal calendar with retention risk score. BNCA per account: retain, rerate, or market.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industry benchmarks and agency book averages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Enrollment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7792" y="1188720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72-hr manual eligibility check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18872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&lt; 60s with TSM compliance 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11155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enrolled clients per day · Zero CMS violations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Benefit Recovery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1993392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0% of agents check DME at renewal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100% auto-checked with TSM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19202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$2,400 per client · Retention and referral tool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24912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249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Denial Appeals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07792" y="2798064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&lt; 20% of denials pursued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98064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100% scored, deadlines tracked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249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$150K–$500K recovered per agency annually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29584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29584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5295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Onboarding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07792" y="3602736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6-month ramp to first production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3602736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Weeks with TSM AI coaching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5295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faster to quota · Lower manager burden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334256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33425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Renewal Retention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07792" y="4407408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lost at non-renewal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9240" y="4407408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90-day risk scoring, proactive BNCA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43342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reduction in renewal leakage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13892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138928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51389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E&amp;O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07792" y="5212080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discovered at audit or claim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49240" y="521208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Proactive — caught at point of sale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389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surprise violations · Defensible audit trail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647395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 pays for itself in recovered denials and DME benefits alone — everything else is growth.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How TSM Integrates with Your Agency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TSM layers on your existing workflows and adds value from day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749040" cy="82296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 &amp; Configure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GROQ API key — single setup, all apps unlocked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starting app: AZ Command, DME, or Agents Intel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01568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library loaded for your top 10 markets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workflow configured for your team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987552"/>
            <a:ext cx="374904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&amp; Calibrate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975104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real client scenarios through BNCA pipeline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688336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node outputs against your agency decisions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401568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accuracy reviewed daily with senior agent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114800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tunes Insurance Strategist to your market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01000" y="987552"/>
            <a:ext cx="374904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3816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1975104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apps live across agency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3816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2688336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queue integrated into daily agent workflow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401568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analysis: cross-sell, DME, and renewal scoring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3816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4114800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788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reviews and model updates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5074920"/>
            <a:ext cx="1147572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07492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with: EzLynx · Applied Epic · Hawksoft · AgencyZoom · Medicare Compare · Healthcare.gov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0040" y="5623560"/>
            <a:ext cx="11475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 · No client PII stored · NPN 18818059 licensed · State-specific rule library maintained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6080760"/>
            <a:ext cx="11475720" cy="53035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080760"/>
            <a:ext cx="11228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agency can be running live BNCA outputs on real client scenarios within one week of agreement.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Anticipated Questions — Prepared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these. Every answer reinforces TSM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this legal — can AI give insurance advice?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AI recommends. The licensed agent decides and signs off. Every BNCA goes through HITL before any action. AI is the research tool; you are the advisor of record.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96596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the AI gives wrong carrier guidance?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6771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has a confidence score. Low-confidence outputs auto-route to HITL. The agent reviews before submission. TSM is a second opinion engine, not an autopilot.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78892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current is the carrier and compliance data?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09067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matrix and state regs update continuously. CMS rule changes are pushed within 24 hours of publication. Your GROQ key runs against live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6118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this work with our existing AMS or CRM?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91363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apps run alongside your existing tools via browser. API integration with EzLynx, Applied Epic, and AgencyZoom available for enterprise deployments.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43484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cost and what is the ROI?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73659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 user or per agency. At average agency size, recovered claim denials and DME benefits alone return 5-10x the annual cost. See pricing1.html for tier breakdown.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52120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" y="52578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we white-label this for our agents or clients?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55595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Agency and carrier white-labeling is available at enterprise tier. Your brand, your NPN, TSM intelligence layer underneath.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502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next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your call.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starting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Command, DME, Agents Intel, or P&amp;C — choose highest pain point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5 real client scenarios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BNCA outputs on your actual book — see it work on your business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your HITL workflow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4988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agent review queue — 1 hour to configure for your team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4690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10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— see 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2760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clients, real BNCA outputs, real ROI — tracked from day 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118872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188720"/>
            <a:ext cx="35661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243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start?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18288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18818059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66960" y="23317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Producer · Active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online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66960" y="3337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to first BNCA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66960" y="38404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43434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Enterprise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Intelligence. Every client question answered. Every action accountable.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2026-04-27T00:54:30Z</dcterms:created>
  <dcterms:modified xsi:type="dcterms:W3CDTF">2026-04-27T00:54:30Z</dcterms:modified>
</cp:coreProperties>
</file>